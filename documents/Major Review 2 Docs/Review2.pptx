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9" r:id="rId2"/>
    <p:sldId id="260" r:id="rId3"/>
    <p:sldId id="261" r:id="rId4"/>
    <p:sldId id="263" r:id="rId5"/>
    <p:sldId id="264" r:id="rId6"/>
    <p:sldId id="258" r:id="rId7"/>
    <p:sldId id="256" r:id="rId8"/>
    <p:sldId id="265" r:id="rId9"/>
    <p:sldId id="266" r:id="rId10"/>
    <p:sldId id="267" r:id="rId11"/>
    <p:sldId id="268"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A1E3025-EFA9-46DB-976B-80B0F1B0CC7C}" type="datetimeFigureOut">
              <a:rPr lang="en-IN" smtClean="0"/>
              <a:t>07-03-2026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5C53E8F3-4317-41F9-BEE2-6F527E5ABC38}" type="slidenum">
              <a:rPr lang="en-IN" smtClean="0"/>
              <a:t>‹#›</a:t>
            </a:fld>
            <a:endParaRPr lang="en-IN"/>
          </a:p>
        </p:txBody>
      </p:sp>
    </p:spTree>
    <p:extLst>
      <p:ext uri="{BB962C8B-B14F-4D97-AF65-F5344CB8AC3E}">
        <p14:creationId xmlns:p14="http://schemas.microsoft.com/office/powerpoint/2010/main" val="30882847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1E3025-EFA9-46DB-976B-80B0F1B0CC7C}" type="datetimeFigureOut">
              <a:rPr lang="en-IN" smtClean="0"/>
              <a:t>07-03-2026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C53E8F3-4317-41F9-BEE2-6F527E5ABC38}" type="slidenum">
              <a:rPr lang="en-IN" smtClean="0"/>
              <a:t>‹#›</a:t>
            </a:fld>
            <a:endParaRPr lang="en-IN"/>
          </a:p>
        </p:txBody>
      </p:sp>
    </p:spTree>
    <p:extLst>
      <p:ext uri="{BB962C8B-B14F-4D97-AF65-F5344CB8AC3E}">
        <p14:creationId xmlns:p14="http://schemas.microsoft.com/office/powerpoint/2010/main" val="2225148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A1E3025-EFA9-46DB-976B-80B0F1B0CC7C}" type="datetimeFigureOut">
              <a:rPr lang="en-IN" smtClean="0"/>
              <a:t>07-03-2026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C53E8F3-4317-41F9-BEE2-6F527E5ABC38}" type="slidenum">
              <a:rPr lang="en-IN" smtClean="0"/>
              <a:t>‹#›</a:t>
            </a:fld>
            <a:endParaRPr lang="en-IN"/>
          </a:p>
        </p:txBody>
      </p:sp>
    </p:spTree>
    <p:extLst>
      <p:ext uri="{BB962C8B-B14F-4D97-AF65-F5344CB8AC3E}">
        <p14:creationId xmlns:p14="http://schemas.microsoft.com/office/powerpoint/2010/main" val="37080331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A1E3025-EFA9-46DB-976B-80B0F1B0CC7C}" type="datetimeFigureOut">
              <a:rPr lang="en-IN" smtClean="0"/>
              <a:t>07-03-2026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5C53E8F3-4317-41F9-BEE2-6F527E5ABC38}" type="slidenum">
              <a:rPr lang="en-IN" smtClean="0"/>
              <a:t>‹#›</a:t>
            </a:fld>
            <a:endParaRPr lang="en-IN"/>
          </a:p>
        </p:txBody>
      </p:sp>
    </p:spTree>
    <p:extLst>
      <p:ext uri="{BB962C8B-B14F-4D97-AF65-F5344CB8AC3E}">
        <p14:creationId xmlns:p14="http://schemas.microsoft.com/office/powerpoint/2010/main" val="18631773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A1E3025-EFA9-46DB-976B-80B0F1B0CC7C}" type="datetimeFigureOut">
              <a:rPr lang="en-IN" smtClean="0"/>
              <a:t>07-03-2026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C53E8F3-4317-41F9-BEE2-6F527E5ABC38}" type="slidenum">
              <a:rPr lang="en-IN" smtClean="0"/>
              <a:t>‹#›</a:t>
            </a:fld>
            <a:endParaRPr lang="en-IN"/>
          </a:p>
        </p:txBody>
      </p:sp>
    </p:spTree>
    <p:extLst>
      <p:ext uri="{BB962C8B-B14F-4D97-AF65-F5344CB8AC3E}">
        <p14:creationId xmlns:p14="http://schemas.microsoft.com/office/powerpoint/2010/main" val="5684317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A1E3025-EFA9-46DB-976B-80B0F1B0CC7C}" type="datetimeFigureOut">
              <a:rPr lang="en-IN" smtClean="0"/>
              <a:t>07-03-2026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5C53E8F3-4317-41F9-BEE2-6F527E5ABC38}" type="slidenum">
              <a:rPr lang="en-IN" smtClean="0"/>
              <a:t>‹#›</a:t>
            </a:fld>
            <a:endParaRPr lang="en-IN"/>
          </a:p>
        </p:txBody>
      </p:sp>
    </p:spTree>
    <p:extLst>
      <p:ext uri="{BB962C8B-B14F-4D97-AF65-F5344CB8AC3E}">
        <p14:creationId xmlns:p14="http://schemas.microsoft.com/office/powerpoint/2010/main" val="1852302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1E3025-EFA9-46DB-976B-80B0F1B0CC7C}" type="datetimeFigureOut">
              <a:rPr lang="en-IN" smtClean="0"/>
              <a:t>07-03-2026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5C53E8F3-4317-41F9-BEE2-6F527E5ABC38}" type="slidenum">
              <a:rPr lang="en-IN" smtClean="0"/>
              <a:t>‹#›</a:t>
            </a:fld>
            <a:endParaRPr lang="en-IN"/>
          </a:p>
        </p:txBody>
      </p:sp>
    </p:spTree>
    <p:extLst>
      <p:ext uri="{BB962C8B-B14F-4D97-AF65-F5344CB8AC3E}">
        <p14:creationId xmlns:p14="http://schemas.microsoft.com/office/powerpoint/2010/main" val="2725685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E3025-EFA9-46DB-976B-80B0F1B0CC7C}" type="datetimeFigureOut">
              <a:rPr lang="en-IN" smtClean="0"/>
              <a:t>07-03-2026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5C53E8F3-4317-41F9-BEE2-6F527E5ABC38}" type="slidenum">
              <a:rPr lang="en-IN" smtClean="0"/>
              <a:t>‹#›</a:t>
            </a:fld>
            <a:endParaRPr lang="en-IN"/>
          </a:p>
        </p:txBody>
      </p:sp>
    </p:spTree>
    <p:extLst>
      <p:ext uri="{BB962C8B-B14F-4D97-AF65-F5344CB8AC3E}">
        <p14:creationId xmlns:p14="http://schemas.microsoft.com/office/powerpoint/2010/main" val="39915667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E3025-EFA9-46DB-976B-80B0F1B0CC7C}" type="datetimeFigureOut">
              <a:rPr lang="en-IN" smtClean="0"/>
              <a:t>07-03-2026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C53E8F3-4317-41F9-BEE2-6F527E5ABC38}" type="slidenum">
              <a:rPr lang="en-IN" smtClean="0"/>
              <a:t>‹#›</a:t>
            </a:fld>
            <a:endParaRPr lang="en-IN"/>
          </a:p>
        </p:txBody>
      </p:sp>
    </p:spTree>
    <p:extLst>
      <p:ext uri="{BB962C8B-B14F-4D97-AF65-F5344CB8AC3E}">
        <p14:creationId xmlns:p14="http://schemas.microsoft.com/office/powerpoint/2010/main" val="3214992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A1E3025-EFA9-46DB-976B-80B0F1B0CC7C}" type="datetimeFigureOut">
              <a:rPr lang="en-IN" smtClean="0"/>
              <a:t>07-03-2026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C53E8F3-4317-41F9-BEE2-6F527E5ABC38}" type="slidenum">
              <a:rPr lang="en-IN" smtClean="0"/>
              <a:t>‹#›</a:t>
            </a:fld>
            <a:endParaRPr lang="en-IN"/>
          </a:p>
        </p:txBody>
      </p:sp>
    </p:spTree>
    <p:extLst>
      <p:ext uri="{BB962C8B-B14F-4D97-AF65-F5344CB8AC3E}">
        <p14:creationId xmlns:p14="http://schemas.microsoft.com/office/powerpoint/2010/main" val="11988759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A1E3025-EFA9-46DB-976B-80B0F1B0CC7C}" type="datetimeFigureOut">
              <a:rPr lang="en-IN" smtClean="0"/>
              <a:t>07-03-2026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C53E8F3-4317-41F9-BEE2-6F527E5ABC38}"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4219749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A1E3025-EFA9-46DB-976B-80B0F1B0CC7C}" type="datetimeFigureOut">
              <a:rPr lang="en-IN" smtClean="0"/>
              <a:t>07-03-2026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C53E8F3-4317-41F9-BEE2-6F527E5ABC38}" type="slidenum">
              <a:rPr lang="en-IN" smtClean="0"/>
              <a:t>‹#›</a:t>
            </a:fld>
            <a:endParaRPr lang="en-IN"/>
          </a:p>
        </p:txBody>
      </p:sp>
    </p:spTree>
    <p:extLst>
      <p:ext uri="{BB962C8B-B14F-4D97-AF65-F5344CB8AC3E}">
        <p14:creationId xmlns:p14="http://schemas.microsoft.com/office/powerpoint/2010/main" val="5401629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A1E3025-EFA9-46DB-976B-80B0F1B0CC7C}" type="datetimeFigureOut">
              <a:rPr lang="en-IN" smtClean="0"/>
              <a:t>07-03-2026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C53E8F3-4317-41F9-BEE2-6F527E5ABC38}"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9698558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A1E3025-EFA9-46DB-976B-80B0F1B0CC7C}" type="datetimeFigureOut">
              <a:rPr lang="en-IN" smtClean="0"/>
              <a:t>07-03-2026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C53E8F3-4317-41F9-BEE2-6F527E5ABC38}" type="slidenum">
              <a:rPr lang="en-IN" smtClean="0"/>
              <a:t>‹#›</a:t>
            </a:fld>
            <a:endParaRPr lang="en-IN"/>
          </a:p>
        </p:txBody>
      </p:sp>
    </p:spTree>
    <p:extLst>
      <p:ext uri="{BB962C8B-B14F-4D97-AF65-F5344CB8AC3E}">
        <p14:creationId xmlns:p14="http://schemas.microsoft.com/office/powerpoint/2010/main" val="31047085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1E3025-EFA9-46DB-976B-80B0F1B0CC7C}" type="datetimeFigureOut">
              <a:rPr lang="en-IN" smtClean="0"/>
              <a:t>07-03-2026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C53E8F3-4317-41F9-BEE2-6F527E5ABC38}" type="slidenum">
              <a:rPr lang="en-IN" smtClean="0"/>
              <a:t>‹#›</a:t>
            </a:fld>
            <a:endParaRPr lang="en-IN"/>
          </a:p>
        </p:txBody>
      </p:sp>
    </p:spTree>
    <p:extLst>
      <p:ext uri="{BB962C8B-B14F-4D97-AF65-F5344CB8AC3E}">
        <p14:creationId xmlns:p14="http://schemas.microsoft.com/office/powerpoint/2010/main" val="13749666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1E3025-EFA9-46DB-976B-80B0F1B0CC7C}" type="datetimeFigureOut">
              <a:rPr lang="en-IN" smtClean="0"/>
              <a:t>07-03-2026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C53E8F3-4317-41F9-BEE2-6F527E5ABC38}" type="slidenum">
              <a:rPr lang="en-IN" smtClean="0"/>
              <a:t>‹#›</a:t>
            </a:fld>
            <a:endParaRPr lang="en-IN"/>
          </a:p>
        </p:txBody>
      </p:sp>
    </p:spTree>
    <p:extLst>
      <p:ext uri="{BB962C8B-B14F-4D97-AF65-F5344CB8AC3E}">
        <p14:creationId xmlns:p14="http://schemas.microsoft.com/office/powerpoint/2010/main" val="38961539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A1E3025-EFA9-46DB-976B-80B0F1B0CC7C}" type="datetimeFigureOut">
              <a:rPr lang="en-IN" smtClean="0"/>
              <a:t>07-03-2026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5C53E8F3-4317-41F9-BEE2-6F527E5ABC38}" type="slidenum">
              <a:rPr lang="en-IN" smtClean="0"/>
              <a:t>‹#›</a:t>
            </a:fld>
            <a:endParaRPr lang="en-IN"/>
          </a:p>
        </p:txBody>
      </p:sp>
    </p:spTree>
    <p:extLst>
      <p:ext uri="{BB962C8B-B14F-4D97-AF65-F5344CB8AC3E}">
        <p14:creationId xmlns:p14="http://schemas.microsoft.com/office/powerpoint/2010/main" val="114771289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F4BC5D3-6832-5837-20EB-A0D05FD3BF48}"/>
              </a:ext>
            </a:extLst>
          </p:cNvPr>
          <p:cNvSpPr txBox="1">
            <a:spLocks/>
          </p:cNvSpPr>
          <p:nvPr/>
        </p:nvSpPr>
        <p:spPr>
          <a:xfrm>
            <a:off x="2047501" y="568637"/>
            <a:ext cx="9144000" cy="2077948"/>
          </a:xfrm>
          <a:prstGeom prst="rect">
            <a:avLst/>
          </a:prstGeom>
        </p:spPr>
        <p:txBody>
          <a:bodyPr vert="horz" lIns="91440" tIns="45720" rIns="91440" bIns="45720" rtlCol="0" anchor="t">
            <a:normAutofit fontScale="67500" lnSpcReduction="20000"/>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nSpc>
                <a:spcPct val="150000"/>
              </a:lnSpc>
            </a:pPr>
            <a:br>
              <a:rPr lang="en-US" sz="4000" dirty="0">
                <a:latin typeface="Times New Roman" panose="02020603050405020304" pitchFamily="18" charset="0"/>
                <a:cs typeface="Times New Roman" panose="02020603050405020304" pitchFamily="18" charset="0"/>
              </a:rPr>
            </a:br>
            <a:r>
              <a:rPr lang="en-US" sz="2700" dirty="0">
                <a:latin typeface="Times New Roman" panose="02020603050405020304" pitchFamily="18" charset="0"/>
                <a:cs typeface="Times New Roman" panose="02020603050405020304" pitchFamily="18" charset="0"/>
              </a:rPr>
              <a:t>Review 1</a:t>
            </a:r>
            <a:br>
              <a:rPr lang="en-US" sz="4000" dirty="0">
                <a:latin typeface="Times New Roman" panose="02020603050405020304" pitchFamily="18" charset="0"/>
                <a:cs typeface="Times New Roman" panose="02020603050405020304" pitchFamily="18" charset="0"/>
              </a:rPr>
            </a:br>
            <a:r>
              <a:rPr lang="en-IN" sz="2700" b="1" dirty="0">
                <a:latin typeface="Times New Roman" panose="02020603050405020304" pitchFamily="18" charset="0"/>
                <a:ea typeface="Times New Roman" panose="02020603050405020304" pitchFamily="18" charset="0"/>
              </a:rPr>
              <a:t>VISIONARY CAREER ASSISTANCE: AI-DRIVEN ADAPTIVE LEARNING FOR UNDERPRIVILEGED STUDENTS</a:t>
            </a:r>
            <a:br>
              <a:rPr lang="en-US" sz="48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Project Category</a:t>
            </a:r>
            <a:r>
              <a:rPr lang="en-US" sz="2400">
                <a:latin typeface="Times New Roman" panose="02020603050405020304" pitchFamily="18" charset="0"/>
                <a:cs typeface="Times New Roman" panose="02020603050405020304" pitchFamily="18" charset="0"/>
              </a:rPr>
              <a:t>: </a:t>
            </a:r>
            <a:r>
              <a:rPr lang="en-US" sz="1800">
                <a:latin typeface="Times New Roman" panose="02020603050405020304" pitchFamily="18" charset="0"/>
                <a:cs typeface="Times New Roman" panose="02020603050405020304" pitchFamily="18" charset="0"/>
              </a:rPr>
              <a:t>RESEARCH</a:t>
            </a:r>
            <a:endParaRPr lang="en-IN" sz="4800" dirty="0">
              <a:latin typeface="Times New Roman" panose="02020603050405020304" pitchFamily="18" charset="0"/>
              <a:cs typeface="Times New Roman" panose="02020603050405020304" pitchFamily="18" charset="0"/>
            </a:endParaRPr>
          </a:p>
        </p:txBody>
      </p:sp>
      <p:sp>
        <p:nvSpPr>
          <p:cNvPr id="5" name="Subtitle 2">
            <a:extLst>
              <a:ext uri="{FF2B5EF4-FFF2-40B4-BE49-F238E27FC236}">
                <a16:creationId xmlns:a16="http://schemas.microsoft.com/office/drawing/2014/main" id="{503156FB-98B1-1957-1804-24E7D61FE796}"/>
              </a:ext>
            </a:extLst>
          </p:cNvPr>
          <p:cNvSpPr txBox="1">
            <a:spLocks/>
          </p:cNvSpPr>
          <p:nvPr/>
        </p:nvSpPr>
        <p:spPr>
          <a:xfrm>
            <a:off x="2133600" y="2542600"/>
            <a:ext cx="10191002" cy="1203699"/>
          </a:xfrm>
          <a:prstGeom prst="rect">
            <a:avLst/>
          </a:prstGeom>
        </p:spPr>
        <p:txBody>
          <a:bodyPr vert="horz" lIns="91440" tIns="45720" rIns="91440" bIns="45720" rtlCol="0">
            <a:normAutofit fontScale="92500" lnSpcReduction="2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endParaRPr lang="en-US" dirty="0">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Guide Name – Dr MOHAMMAD SHAHNAWAZ HUSSAIN                                                          </a:t>
            </a:r>
          </a:p>
          <a:p>
            <a:r>
              <a:rPr lang="en-US" dirty="0">
                <a:solidFill>
                  <a:schemeClr val="tx1"/>
                </a:solidFill>
                <a:latin typeface="Times New Roman" panose="02020603050405020304" pitchFamily="18" charset="0"/>
                <a:cs typeface="Times New Roman" panose="02020603050405020304" pitchFamily="18" charset="0"/>
              </a:rPr>
              <a:t>Student Name &amp; Registration Number – Atharv Dobhal (RA2211047010134) , Diyansh </a:t>
            </a:r>
            <a:r>
              <a:rPr lang="en-US" dirty="0" err="1">
                <a:solidFill>
                  <a:schemeClr val="tx1"/>
                </a:solidFill>
                <a:latin typeface="Times New Roman" panose="02020603050405020304" pitchFamily="18" charset="0"/>
                <a:cs typeface="Times New Roman" panose="02020603050405020304" pitchFamily="18" charset="0"/>
              </a:rPr>
              <a:t>Bafila</a:t>
            </a:r>
            <a:r>
              <a:rPr lang="en-US" dirty="0">
                <a:solidFill>
                  <a:schemeClr val="tx1"/>
                </a:solidFill>
                <a:latin typeface="Times New Roman" panose="02020603050405020304" pitchFamily="18" charset="0"/>
                <a:cs typeface="Times New Roman" panose="02020603050405020304" pitchFamily="18" charset="0"/>
              </a:rPr>
              <a:t> (RA2211047010068)</a:t>
            </a:r>
          </a:p>
          <a:p>
            <a:endParaRPr lang="en-IN" dirty="0">
              <a:latin typeface="Times New Roman" panose="02020603050405020304" pitchFamily="18" charset="0"/>
              <a:cs typeface="Times New Roman" panose="02020603050405020304" pitchFamily="18" charset="0"/>
            </a:endParaRPr>
          </a:p>
        </p:txBody>
      </p:sp>
      <p:pic>
        <p:nvPicPr>
          <p:cNvPr id="6" name="Picture 2">
            <a:extLst>
              <a:ext uri="{FF2B5EF4-FFF2-40B4-BE49-F238E27FC236}">
                <a16:creationId xmlns:a16="http://schemas.microsoft.com/office/drawing/2014/main" id="{ADA92030-21B4-B094-7C5E-869FCAC0FE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93687" y="33186"/>
            <a:ext cx="2552700" cy="14097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5DEA7621-6341-C545-7F9A-9A0FC3A81338}"/>
              </a:ext>
            </a:extLst>
          </p:cNvPr>
          <p:cNvPicPr>
            <a:picLocks noChangeAspect="1"/>
          </p:cNvPicPr>
          <p:nvPr/>
        </p:nvPicPr>
        <p:blipFill>
          <a:blip r:embed="rId3" cstate="print">
            <a:extLst>
              <a:ext uri="{28A0092B-C50C-407E-A947-70E740481C1C}">
                <a14:useLocalDpi xmlns:a14="http://schemas.microsoft.com/office/drawing/2010/main" val="0"/>
              </a:ext>
            </a:extLst>
          </a:blip>
          <a:srcRect r="1318" b="7904"/>
          <a:stretch/>
        </p:blipFill>
        <p:spPr>
          <a:xfrm>
            <a:off x="4785637" y="4315400"/>
            <a:ext cx="2095929" cy="2034883"/>
          </a:xfrm>
          <a:prstGeom prst="rect">
            <a:avLst/>
          </a:prstGeom>
        </p:spPr>
      </p:pic>
      <p:pic>
        <p:nvPicPr>
          <p:cNvPr id="8" name="Picture 7">
            <a:extLst>
              <a:ext uri="{FF2B5EF4-FFF2-40B4-BE49-F238E27FC236}">
                <a16:creationId xmlns:a16="http://schemas.microsoft.com/office/drawing/2014/main" id="{93F0A751-EBAB-10EF-0878-66569937E7A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95062" y="4309598"/>
            <a:ext cx="2098054" cy="2040685"/>
          </a:xfrm>
          <a:prstGeom prst="rect">
            <a:avLst/>
          </a:prstGeom>
        </p:spPr>
      </p:pic>
    </p:spTree>
    <p:extLst>
      <p:ext uri="{BB962C8B-B14F-4D97-AF65-F5344CB8AC3E}">
        <p14:creationId xmlns:p14="http://schemas.microsoft.com/office/powerpoint/2010/main" val="84320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0B12859-8B4D-2896-3F0E-32FBE0829589}"/>
              </a:ext>
            </a:extLst>
          </p:cNvPr>
          <p:cNvSpPr>
            <a:spLocks noGrp="1"/>
          </p:cNvSpPr>
          <p:nvPr>
            <p:ph type="title"/>
          </p:nvPr>
        </p:nvSpPr>
        <p:spPr>
          <a:xfrm>
            <a:off x="1756313" y="959755"/>
            <a:ext cx="8911687" cy="1280890"/>
          </a:xfrm>
        </p:spPr>
        <p:txBody>
          <a:bodyPr/>
          <a:lstStyle/>
          <a:p>
            <a:pPr algn="ctr"/>
            <a:r>
              <a:rPr lang="en-US" b="1" dirty="0">
                <a:latin typeface="Times New Roman" panose="02020603050405020304" pitchFamily="18" charset="0"/>
                <a:cs typeface="Times New Roman" panose="02020603050405020304" pitchFamily="18" charset="0"/>
              </a:rPr>
              <a:t>Abstract</a:t>
            </a:r>
            <a:endParaRPr lang="en-IN" b="1"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08344DF4-EAF0-9C41-1837-780B864373F9}"/>
              </a:ext>
            </a:extLst>
          </p:cNvPr>
          <p:cNvSpPr>
            <a:spLocks noGrp="1"/>
          </p:cNvSpPr>
          <p:nvPr>
            <p:ph idx="1"/>
          </p:nvPr>
        </p:nvSpPr>
        <p:spPr>
          <a:xfrm>
            <a:off x="2193810" y="2521490"/>
            <a:ext cx="8915400" cy="3777622"/>
          </a:xfrm>
        </p:spPr>
        <p:txBody>
          <a:bodyPr>
            <a:normAutofit/>
          </a:bodyPr>
          <a:lstStyle/>
          <a:p>
            <a:pPr algn="just"/>
            <a:r>
              <a:rPr lang="en-US" b="1" dirty="0">
                <a:latin typeface="Times New Roman" panose="02020603050405020304" pitchFamily="18" charset="0"/>
                <a:cs typeface="Times New Roman" panose="02020603050405020304" pitchFamily="18" charset="0"/>
              </a:rPr>
              <a:t>Visionary Career Assistance </a:t>
            </a:r>
            <a:r>
              <a:rPr lang="en-US" dirty="0">
                <a:latin typeface="Times New Roman" panose="02020603050405020304" pitchFamily="18" charset="0"/>
                <a:cs typeface="Times New Roman" panose="02020603050405020304" pitchFamily="18" charset="0"/>
              </a:rPr>
              <a:t>is an advanced career guidance platform that integrates data analytics and mentorship to help students make informed career decisions. It combines a Data-Driven Analysis Dashboard and a Mentor Connections Platform to analyze role model influences, socioeconomic backgrounds, and behavioral trends. Built using React and TypeScript for the frontend and Flask with Python for the backend, it employs sentiment analysis, machine learning, and data visualization to deliver personalized insights. The platform promotes equity, supports SDG 4,and ensures mobile responsiveness with real-time analytics.</a:t>
            </a:r>
            <a:endParaRPr lang="en-IN" dirty="0">
              <a:solidFill>
                <a:schemeClr val="tx1"/>
              </a:solidFill>
              <a:latin typeface="Times New Roman" panose="02020603050405020304" pitchFamily="18" charset="0"/>
              <a:cs typeface="Times New Roman" panose="02020603050405020304" pitchFamily="18" charset="0"/>
            </a:endParaRPr>
          </a:p>
        </p:txBody>
      </p:sp>
      <p:pic>
        <p:nvPicPr>
          <p:cNvPr id="6" name="Picture 2">
            <a:extLst>
              <a:ext uri="{FF2B5EF4-FFF2-40B4-BE49-F238E27FC236}">
                <a16:creationId xmlns:a16="http://schemas.microsoft.com/office/drawing/2014/main" id="{04A02B1C-0858-3BEE-8649-0500336F23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39300" y="0"/>
            <a:ext cx="2552700" cy="1409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40214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CC95C-FFE4-2553-6ACB-E0BFA271C466}"/>
              </a:ext>
            </a:extLst>
          </p:cNvPr>
          <p:cNvSpPr txBox="1">
            <a:spLocks/>
          </p:cNvSpPr>
          <p:nvPr/>
        </p:nvSpPr>
        <p:spPr>
          <a:xfrm>
            <a:off x="1756313" y="1057743"/>
            <a:ext cx="8911687" cy="1280890"/>
          </a:xfrm>
          <a:prstGeom prst="rect">
            <a:avLst/>
          </a:prstGeom>
        </p:spPr>
        <p:txBody>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b="1">
                <a:latin typeface="Times New Roman" panose="02020603050405020304" pitchFamily="18"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4704D31-CA2C-A9F0-ED81-5DBEBF219DF7}"/>
              </a:ext>
            </a:extLst>
          </p:cNvPr>
          <p:cNvSpPr txBox="1">
            <a:spLocks/>
          </p:cNvSpPr>
          <p:nvPr/>
        </p:nvSpPr>
        <p:spPr>
          <a:xfrm>
            <a:off x="2390775" y="2124173"/>
            <a:ext cx="8915400" cy="3777622"/>
          </a:xfrm>
          <a:prstGeom prst="rect">
            <a:avLst/>
          </a:prstGeom>
        </p:spPr>
        <p:txBody>
          <a:bodyPr>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Educational and career inequity persists as a critical global issue, with students from disadvantaged backgrounds facing systemic barriers that restrict access to guidance, resources, and informed career pathways. Existing AI-driven educational systems largely focus on academic performance and personalization, yet fail to incorporate the socio-economic, familial, and psychological factors that shape career trajectories. This research introduces </a:t>
            </a:r>
            <a:r>
              <a:rPr lang="en-US" i="1" dirty="0">
                <a:latin typeface="Times New Roman" panose="02020603050405020304" pitchFamily="18" charset="0"/>
                <a:cs typeface="Times New Roman" panose="02020603050405020304" pitchFamily="18" charset="0"/>
              </a:rPr>
              <a:t>Visionary Career Assistance</a:t>
            </a:r>
            <a:r>
              <a:rPr lang="en-US" dirty="0">
                <a:latin typeface="Times New Roman" panose="02020603050405020304" pitchFamily="18" charset="0"/>
                <a:cs typeface="Times New Roman" panose="02020603050405020304" pitchFamily="18" charset="0"/>
              </a:rPr>
              <a:t>, a reinforcement learning–based framework that integrates multidimensional student profiles—including academic, socio-economic, and home-environment indicators—to deliver adaptive and equitable career interventions. The study proposes a fairness-aware RL model, balanced reward design, and empirical validation in low-resource simulated environments to address career development inequity.</a:t>
            </a:r>
          </a:p>
          <a:p>
            <a:endParaRPr lang="en-US" dirty="0"/>
          </a:p>
        </p:txBody>
      </p:sp>
      <p:pic>
        <p:nvPicPr>
          <p:cNvPr id="4" name="Picture 2">
            <a:extLst>
              <a:ext uri="{FF2B5EF4-FFF2-40B4-BE49-F238E27FC236}">
                <a16:creationId xmlns:a16="http://schemas.microsoft.com/office/drawing/2014/main" id="{9389F341-831C-FB14-3D39-0B2D5D1E01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39300" y="0"/>
            <a:ext cx="2552700" cy="1409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95331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81AC6-892D-0B96-C533-B63A941371C6}"/>
              </a:ext>
            </a:extLst>
          </p:cNvPr>
          <p:cNvSpPr>
            <a:spLocks noGrp="1"/>
          </p:cNvSpPr>
          <p:nvPr>
            <p:ph type="title"/>
          </p:nvPr>
        </p:nvSpPr>
        <p:spPr/>
        <p:txBody>
          <a:bodyPr/>
          <a:lstStyle/>
          <a:p>
            <a:r>
              <a:rPr lang="en-IN" dirty="0"/>
              <a:t>Research Objectives</a:t>
            </a:r>
          </a:p>
        </p:txBody>
      </p:sp>
      <p:sp>
        <p:nvSpPr>
          <p:cNvPr id="3" name="Content Placeholder 2">
            <a:extLst>
              <a:ext uri="{FF2B5EF4-FFF2-40B4-BE49-F238E27FC236}">
                <a16:creationId xmlns:a16="http://schemas.microsoft.com/office/drawing/2014/main" id="{ED5A9A3C-D4CE-3016-3EDA-C5BE6A680EE4}"/>
              </a:ext>
            </a:extLst>
          </p:cNvPr>
          <p:cNvSpPr>
            <a:spLocks noGrp="1"/>
          </p:cNvSpPr>
          <p:nvPr>
            <p:ph idx="1"/>
          </p:nvPr>
        </p:nvSpPr>
        <p:spPr>
          <a:xfrm>
            <a:off x="1168400" y="1798320"/>
            <a:ext cx="10718800" cy="4937760"/>
          </a:xfrm>
        </p:spPr>
        <p:txBody>
          <a:bodyPr>
            <a:normAutofit lnSpcReduction="10000"/>
          </a:bodyPr>
          <a:lstStyle/>
          <a:p>
            <a:r>
              <a:rPr lang="en-IN" b="1" dirty="0"/>
              <a:t>Epics</a:t>
            </a:r>
            <a:endParaRPr lang="en-IN" dirty="0"/>
          </a:p>
          <a:p>
            <a:pPr lvl="1"/>
            <a:r>
              <a:rPr lang="en-IN" b="1" dirty="0"/>
              <a:t>Epic A — Survey Ingestion &amp; Validation</a:t>
            </a:r>
            <a:br>
              <a:rPr lang="en-IN" dirty="0"/>
            </a:br>
            <a:r>
              <a:rPr lang="en-IN" dirty="0"/>
              <a:t>Reliable, deduplicated, schema-checked data so downstream analytics trust the inputs.</a:t>
            </a:r>
          </a:p>
          <a:p>
            <a:pPr lvl="1"/>
            <a:r>
              <a:rPr lang="en-IN" b="1" dirty="0"/>
              <a:t>Epic B — Career Confidence Analytics</a:t>
            </a:r>
            <a:br>
              <a:rPr lang="en-IN" dirty="0"/>
            </a:br>
            <a:r>
              <a:rPr lang="en-IN" dirty="0"/>
              <a:t>Model behavioural, background, income, and role-model factors to score confidence and pinpoint drivers.</a:t>
            </a:r>
          </a:p>
          <a:p>
            <a:pPr lvl="1"/>
            <a:r>
              <a:rPr lang="en-IN" b="1" dirty="0"/>
              <a:t>Epic C — Recommendations &amp; Mentor Matching</a:t>
            </a:r>
            <a:br>
              <a:rPr lang="en-IN" dirty="0"/>
            </a:br>
            <a:r>
              <a:rPr lang="en-IN" dirty="0"/>
              <a:t>Turn analytics into actionable guidance and mentor matches that adapt with feedback.</a:t>
            </a:r>
          </a:p>
          <a:p>
            <a:pPr lvl="1"/>
            <a:r>
              <a:rPr lang="en-IN" b="1" dirty="0"/>
              <a:t>Epic D — Dashboards &amp; Reports</a:t>
            </a:r>
            <a:br>
              <a:rPr lang="en-IN" dirty="0"/>
            </a:br>
            <a:r>
              <a:rPr lang="en-IN" dirty="0"/>
              <a:t>Communicate insights (student + cohort) via interactive views and exportable reports.</a:t>
            </a:r>
          </a:p>
          <a:p>
            <a:r>
              <a:rPr lang="en-US" b="1" dirty="0"/>
              <a:t>Alignment to the Problem</a:t>
            </a:r>
            <a:endParaRPr lang="en-US" dirty="0"/>
          </a:p>
          <a:p>
            <a:pPr lvl="1"/>
            <a:r>
              <a:rPr lang="en-US" b="1" dirty="0"/>
              <a:t>Clean data (A)</a:t>
            </a:r>
            <a:r>
              <a:rPr lang="en-US" dirty="0"/>
              <a:t> → removes noise and bias → better signals for confidence scoring.</a:t>
            </a:r>
          </a:p>
          <a:p>
            <a:pPr lvl="1"/>
            <a:r>
              <a:rPr lang="en-US" b="1" dirty="0"/>
              <a:t>Robust analytics (B)</a:t>
            </a:r>
            <a:r>
              <a:rPr lang="en-US" dirty="0"/>
              <a:t> → identify which factors most affect student trajectories.</a:t>
            </a:r>
          </a:p>
          <a:p>
            <a:pPr lvl="1"/>
            <a:r>
              <a:rPr lang="en-US" b="1" dirty="0"/>
              <a:t>Actionable outputs (C)</a:t>
            </a:r>
            <a:r>
              <a:rPr lang="en-US" dirty="0"/>
              <a:t> → close the loop with suggestions and human support.</a:t>
            </a:r>
          </a:p>
          <a:p>
            <a:pPr lvl="1"/>
            <a:r>
              <a:rPr lang="en-US" b="1" dirty="0"/>
              <a:t>Clear visibility (D)</a:t>
            </a:r>
            <a:r>
              <a:rPr lang="en-US" dirty="0"/>
              <a:t> → keeps admins/mentors informed and able to intervene early.</a:t>
            </a:r>
          </a:p>
          <a:p>
            <a:endParaRPr lang="en-IN" dirty="0"/>
          </a:p>
        </p:txBody>
      </p:sp>
      <p:pic>
        <p:nvPicPr>
          <p:cNvPr id="4" name="Picture 2">
            <a:extLst>
              <a:ext uri="{FF2B5EF4-FFF2-40B4-BE49-F238E27FC236}">
                <a16:creationId xmlns:a16="http://schemas.microsoft.com/office/drawing/2014/main" id="{8252BA56-4C23-33D2-70CB-A6CC6A003E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39300" y="0"/>
            <a:ext cx="2552700" cy="1409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950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5F088-D145-FDFA-F248-ADAF6D406E01}"/>
              </a:ext>
            </a:extLst>
          </p:cNvPr>
          <p:cNvSpPr>
            <a:spLocks noGrp="1"/>
          </p:cNvSpPr>
          <p:nvPr>
            <p:ph type="title"/>
          </p:nvPr>
        </p:nvSpPr>
        <p:spPr/>
        <p:txBody>
          <a:bodyPr/>
          <a:lstStyle/>
          <a:p>
            <a:r>
              <a:rPr lang="en-IN" dirty="0"/>
              <a:t>Project Scope</a:t>
            </a:r>
          </a:p>
        </p:txBody>
      </p:sp>
      <p:sp>
        <p:nvSpPr>
          <p:cNvPr id="3" name="Content Placeholder 2">
            <a:extLst>
              <a:ext uri="{FF2B5EF4-FFF2-40B4-BE49-F238E27FC236}">
                <a16:creationId xmlns:a16="http://schemas.microsoft.com/office/drawing/2014/main" id="{AA340F4B-8457-AC25-35A3-52AB03709DDE}"/>
              </a:ext>
            </a:extLst>
          </p:cNvPr>
          <p:cNvSpPr>
            <a:spLocks noGrp="1"/>
          </p:cNvSpPr>
          <p:nvPr>
            <p:ph idx="1"/>
          </p:nvPr>
        </p:nvSpPr>
        <p:spPr>
          <a:xfrm>
            <a:off x="1727200" y="1432560"/>
            <a:ext cx="9777412" cy="5059680"/>
          </a:xfrm>
        </p:spPr>
        <p:txBody>
          <a:bodyPr>
            <a:normAutofit lnSpcReduction="10000"/>
          </a:bodyPr>
          <a:lstStyle/>
          <a:p>
            <a:r>
              <a:rPr lang="en-IN" b="1" dirty="0"/>
              <a:t>In Scope</a:t>
            </a:r>
            <a:endParaRPr lang="en-IN" dirty="0"/>
          </a:p>
          <a:p>
            <a:pPr lvl="1"/>
            <a:r>
              <a:rPr lang="en-IN" dirty="0"/>
              <a:t>Collect and validate student survey data (background, </a:t>
            </a:r>
            <a:r>
              <a:rPr lang="en-IN" dirty="0" err="1"/>
              <a:t>behavior</a:t>
            </a:r>
            <a:r>
              <a:rPr lang="en-IN" dirty="0"/>
              <a:t>, academics, income, role models); deduplicate and store in DB.</a:t>
            </a:r>
          </a:p>
          <a:p>
            <a:pPr lvl="1"/>
            <a:r>
              <a:rPr lang="en-IN" dirty="0"/>
              <a:t>Run sentiment and statistical analyses, including hierarchical regression for career confidence; log metrics and cache/store outputs.</a:t>
            </a:r>
          </a:p>
          <a:p>
            <a:pPr lvl="1"/>
            <a:r>
              <a:rPr lang="en-IN" dirty="0"/>
              <a:t>Generate personalized recommendations and mentor matches using vector similarity and feedback-driven reweighting.</a:t>
            </a:r>
          </a:p>
          <a:p>
            <a:pPr lvl="1"/>
            <a:r>
              <a:rPr lang="en-IN" dirty="0"/>
              <a:t>Expose secure APIs for authentication, assessments, analytics, and report retrieval; support CORS and basic real-time updates.</a:t>
            </a:r>
          </a:p>
          <a:p>
            <a:pPr lvl="1"/>
            <a:r>
              <a:rPr lang="en-IN" dirty="0"/>
              <a:t>Provide React/TypeScript dashboards for student/cohort insights, charts, and downloadable PDFs/CSVs.</a:t>
            </a:r>
          </a:p>
          <a:p>
            <a:r>
              <a:rPr lang="en-IN" b="1" dirty="0"/>
              <a:t>Out of Scope (for now)</a:t>
            </a:r>
            <a:endParaRPr lang="en-IN" dirty="0"/>
          </a:p>
          <a:p>
            <a:pPr lvl="1"/>
            <a:r>
              <a:rPr lang="en-IN" dirty="0"/>
              <a:t>Full production-grade multi-tenant scaling (SLA/SLOs, high availability, autoscaling).</a:t>
            </a:r>
          </a:p>
          <a:p>
            <a:pPr lvl="1"/>
            <a:r>
              <a:rPr lang="en-IN" dirty="0"/>
              <a:t>Advanced AI/ML beyond current sentiment and regression models (e.g., deep learning/NLP embeddings training).</a:t>
            </a:r>
          </a:p>
          <a:p>
            <a:pPr lvl="1"/>
            <a:r>
              <a:rPr lang="en-IN" dirty="0"/>
              <a:t>Complex billing/commercialization, parental consent workflows, or third-party LMS integration.</a:t>
            </a:r>
          </a:p>
          <a:p>
            <a:endParaRPr lang="en-IN" dirty="0"/>
          </a:p>
        </p:txBody>
      </p:sp>
    </p:spTree>
    <p:extLst>
      <p:ext uri="{BB962C8B-B14F-4D97-AF65-F5344CB8AC3E}">
        <p14:creationId xmlns:p14="http://schemas.microsoft.com/office/powerpoint/2010/main" val="39667602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C389294-DF5B-8D9B-5C7F-B690BA1DD4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002" y="0"/>
            <a:ext cx="11664918" cy="6858000"/>
          </a:xfrm>
          <a:prstGeom prst="rect">
            <a:avLst/>
          </a:prstGeom>
        </p:spPr>
      </p:pic>
      <p:sp>
        <p:nvSpPr>
          <p:cNvPr id="6" name="TextBox 5">
            <a:extLst>
              <a:ext uri="{FF2B5EF4-FFF2-40B4-BE49-F238E27FC236}">
                <a16:creationId xmlns:a16="http://schemas.microsoft.com/office/drawing/2014/main" id="{04F1B0E1-4CBA-C52B-5865-27BAFA1D99F6}"/>
              </a:ext>
            </a:extLst>
          </p:cNvPr>
          <p:cNvSpPr txBox="1"/>
          <p:nvPr/>
        </p:nvSpPr>
        <p:spPr>
          <a:xfrm>
            <a:off x="7503422" y="276625"/>
            <a:ext cx="4886960" cy="584775"/>
          </a:xfrm>
          <a:prstGeom prst="rect">
            <a:avLst/>
          </a:prstGeom>
          <a:noFill/>
        </p:spPr>
        <p:txBody>
          <a:bodyPr wrap="square" rtlCol="0">
            <a:spAutoFit/>
          </a:bodyPr>
          <a:lstStyle/>
          <a:p>
            <a:r>
              <a:rPr lang="en-IN" sz="3200" b="1" dirty="0"/>
              <a:t>High Level Architecture </a:t>
            </a:r>
          </a:p>
        </p:txBody>
      </p:sp>
    </p:spTree>
    <p:extLst>
      <p:ext uri="{BB962C8B-B14F-4D97-AF65-F5344CB8AC3E}">
        <p14:creationId xmlns:p14="http://schemas.microsoft.com/office/powerpoint/2010/main" val="1892897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B203BF1-9125-D5A3-581F-FA376AD2D9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670" y="0"/>
            <a:ext cx="11956330" cy="6858000"/>
          </a:xfrm>
          <a:prstGeom prst="rect">
            <a:avLst/>
          </a:prstGeom>
        </p:spPr>
      </p:pic>
      <p:sp>
        <p:nvSpPr>
          <p:cNvPr id="7" name="TextBox 6">
            <a:extLst>
              <a:ext uri="{FF2B5EF4-FFF2-40B4-BE49-F238E27FC236}">
                <a16:creationId xmlns:a16="http://schemas.microsoft.com/office/drawing/2014/main" id="{B3EADF3C-4C29-459A-5F1B-FF235B9137EF}"/>
              </a:ext>
            </a:extLst>
          </p:cNvPr>
          <p:cNvSpPr txBox="1"/>
          <p:nvPr/>
        </p:nvSpPr>
        <p:spPr>
          <a:xfrm>
            <a:off x="1058944" y="131970"/>
            <a:ext cx="6096000" cy="369332"/>
          </a:xfrm>
          <a:prstGeom prst="rect">
            <a:avLst/>
          </a:prstGeom>
          <a:noFill/>
        </p:spPr>
        <p:txBody>
          <a:bodyPr wrap="square">
            <a:spAutoFit/>
          </a:bodyPr>
          <a:lstStyle/>
          <a:p>
            <a:r>
              <a:rPr lang="en-IN" sz="1800" b="1" dirty="0"/>
              <a:t>Low Level Architecture </a:t>
            </a:r>
          </a:p>
        </p:txBody>
      </p:sp>
    </p:spTree>
    <p:extLst>
      <p:ext uri="{BB962C8B-B14F-4D97-AF65-F5344CB8AC3E}">
        <p14:creationId xmlns:p14="http://schemas.microsoft.com/office/powerpoint/2010/main" val="1448552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DC90E-AC11-1EF3-C019-3FE9FCCE3B7B}"/>
              </a:ext>
            </a:extLst>
          </p:cNvPr>
          <p:cNvSpPr>
            <a:spLocks noGrp="1"/>
          </p:cNvSpPr>
          <p:nvPr>
            <p:ph type="title"/>
          </p:nvPr>
        </p:nvSpPr>
        <p:spPr/>
        <p:txBody>
          <a:bodyPr/>
          <a:lstStyle/>
          <a:p>
            <a:r>
              <a:rPr lang="en-IN" dirty="0"/>
              <a:t>Implementation Details</a:t>
            </a:r>
          </a:p>
        </p:txBody>
      </p:sp>
      <p:sp>
        <p:nvSpPr>
          <p:cNvPr id="3" name="Content Placeholder 2">
            <a:extLst>
              <a:ext uri="{FF2B5EF4-FFF2-40B4-BE49-F238E27FC236}">
                <a16:creationId xmlns:a16="http://schemas.microsoft.com/office/drawing/2014/main" id="{9DBF7397-FAD4-6D01-73A8-94454B96FE7C}"/>
              </a:ext>
            </a:extLst>
          </p:cNvPr>
          <p:cNvSpPr>
            <a:spLocks noGrp="1"/>
          </p:cNvSpPr>
          <p:nvPr>
            <p:ph idx="1"/>
          </p:nvPr>
        </p:nvSpPr>
        <p:spPr>
          <a:xfrm>
            <a:off x="1168400" y="1584960"/>
            <a:ext cx="10769600" cy="5273040"/>
          </a:xfrm>
        </p:spPr>
        <p:txBody>
          <a:bodyPr>
            <a:normAutofit lnSpcReduction="10000"/>
          </a:bodyPr>
          <a:lstStyle/>
          <a:p>
            <a:r>
              <a:rPr lang="en-IN" b="1" dirty="0"/>
              <a:t>Backend (Flask / Python)</a:t>
            </a:r>
            <a:endParaRPr lang="en-IN" dirty="0"/>
          </a:p>
          <a:p>
            <a:pPr lvl="1"/>
            <a:r>
              <a:rPr lang="en-IN" b="1" dirty="0"/>
              <a:t>App setup:</a:t>
            </a:r>
            <a:r>
              <a:rPr lang="en-IN" dirty="0"/>
              <a:t> backend/app.py configures Flask with CORS, Swagger, Socket.IO, Celery, Redis, structured JSON logging. Uses config.py settings.</a:t>
            </a:r>
          </a:p>
          <a:p>
            <a:pPr lvl="1"/>
            <a:r>
              <a:rPr lang="en-IN" b="1" dirty="0"/>
              <a:t>Auth &amp; storage:</a:t>
            </a:r>
            <a:r>
              <a:rPr lang="en-IN" dirty="0"/>
              <a:t> SQLite for users/assessments/surveys (</a:t>
            </a:r>
            <a:r>
              <a:rPr lang="en-IN" dirty="0" err="1"/>
              <a:t>get_db_connection</a:t>
            </a:r>
            <a:r>
              <a:rPr lang="en-IN" dirty="0"/>
              <a:t>(), </a:t>
            </a:r>
            <a:r>
              <a:rPr lang="en-IN" dirty="0" err="1"/>
              <a:t>init_auth_db</a:t>
            </a:r>
            <a:r>
              <a:rPr lang="en-IN" dirty="0"/>
              <a:t>(), </a:t>
            </a:r>
            <a:r>
              <a:rPr lang="en-IN" dirty="0" err="1"/>
              <a:t>init_surveys_table</a:t>
            </a:r>
            <a:r>
              <a:rPr lang="en-IN" dirty="0"/>
              <a:t>()); passwords hashed via </a:t>
            </a:r>
            <a:r>
              <a:rPr lang="en-IN" dirty="0" err="1"/>
              <a:t>werkzeug.security</a:t>
            </a:r>
            <a:r>
              <a:rPr lang="en-IN" dirty="0"/>
              <a:t>.</a:t>
            </a:r>
          </a:p>
          <a:p>
            <a:pPr lvl="1"/>
            <a:r>
              <a:rPr lang="en-IN" b="1" dirty="0"/>
              <a:t>Survey ingestion:</a:t>
            </a:r>
            <a:r>
              <a:rPr lang="en-IN" dirty="0"/>
              <a:t> Required columns in SURVEY_COLUMNS; normalization via _</a:t>
            </a:r>
            <a:r>
              <a:rPr lang="en-IN" dirty="0" err="1"/>
              <a:t>normalize_survey_value</a:t>
            </a:r>
            <a:r>
              <a:rPr lang="en-IN" dirty="0"/>
              <a:t>; SHA-256 hashes for deduplication; legacy Excel seeding via </a:t>
            </a:r>
            <a:r>
              <a:rPr lang="en-IN" dirty="0" err="1"/>
              <a:t>seed_surveys_from_dataframe</a:t>
            </a:r>
            <a:r>
              <a:rPr lang="en-IN" dirty="0"/>
              <a:t>.</a:t>
            </a:r>
          </a:p>
          <a:p>
            <a:pPr lvl="1"/>
            <a:r>
              <a:rPr lang="en-IN" b="1" dirty="0"/>
              <a:t>Analytics modules:</a:t>
            </a:r>
            <a:endParaRPr lang="en-IN" dirty="0"/>
          </a:p>
          <a:p>
            <a:pPr lvl="2"/>
            <a:r>
              <a:rPr lang="en-IN" b="1" dirty="0"/>
              <a:t>Sentiment:</a:t>
            </a:r>
            <a:r>
              <a:rPr lang="en-IN" dirty="0"/>
              <a:t> Background, </a:t>
            </a:r>
            <a:r>
              <a:rPr lang="en-IN" dirty="0" err="1"/>
              <a:t>behavioral</a:t>
            </a:r>
            <a:r>
              <a:rPr lang="en-IN" dirty="0"/>
              <a:t> impact, family income, role models.</a:t>
            </a:r>
          </a:p>
          <a:p>
            <a:pPr lvl="2"/>
            <a:r>
              <a:rPr lang="en-IN" b="1" dirty="0"/>
              <a:t>Career confidence:</a:t>
            </a:r>
            <a:r>
              <a:rPr lang="en-IN" dirty="0"/>
              <a:t> hierarchical_regression.py; handles empty data; outputs confidence </a:t>
            </a:r>
            <a:r>
              <a:rPr lang="en-IN" dirty="0" err="1"/>
              <a:t>modeling</a:t>
            </a:r>
            <a:r>
              <a:rPr lang="en-IN" dirty="0"/>
              <a:t> results.</a:t>
            </a:r>
          </a:p>
          <a:p>
            <a:pPr lvl="2"/>
            <a:r>
              <a:rPr lang="en-IN" b="1" dirty="0"/>
              <a:t>Plots &amp; XLSX artifacts:</a:t>
            </a:r>
            <a:r>
              <a:rPr lang="en-IN" dirty="0"/>
              <a:t> Stored under backend/assets/.</a:t>
            </a:r>
          </a:p>
          <a:p>
            <a:pPr lvl="1"/>
            <a:r>
              <a:rPr lang="en-IN" b="1" dirty="0"/>
              <a:t>Vector store &amp; mentor matching:</a:t>
            </a:r>
            <a:r>
              <a:rPr lang="en-IN" dirty="0"/>
              <a:t> </a:t>
            </a:r>
            <a:r>
              <a:rPr lang="en-IN" dirty="0" err="1"/>
              <a:t>PgVectorStore</a:t>
            </a:r>
            <a:r>
              <a:rPr lang="en-IN" dirty="0"/>
              <a:t> with </a:t>
            </a:r>
            <a:r>
              <a:rPr lang="en-IN" dirty="0" err="1"/>
              <a:t>pgvector</a:t>
            </a:r>
            <a:r>
              <a:rPr lang="en-IN" dirty="0"/>
              <a:t> DSN/dim from settings.</a:t>
            </a:r>
          </a:p>
          <a:p>
            <a:pPr lvl="1"/>
            <a:r>
              <a:rPr lang="en-IN" b="1" dirty="0"/>
              <a:t>PDF generation:</a:t>
            </a:r>
            <a:r>
              <a:rPr lang="en-IN" dirty="0"/>
              <a:t> pdf_utils.py (</a:t>
            </a:r>
            <a:r>
              <a:rPr lang="en-IN" dirty="0" err="1"/>
              <a:t>generate_pdf_bytes</a:t>
            </a:r>
            <a:r>
              <a:rPr lang="en-IN" dirty="0"/>
              <a:t>) for downloadable reports.</a:t>
            </a:r>
          </a:p>
          <a:p>
            <a:pPr lvl="1"/>
            <a:r>
              <a:rPr lang="en-IN" b="1" dirty="0"/>
              <a:t>Async &amp; notifications:</a:t>
            </a:r>
            <a:r>
              <a:rPr lang="en-IN" dirty="0"/>
              <a:t> Celery + Redis; Twilio helper for SMS/email; SMTP email via </a:t>
            </a:r>
            <a:r>
              <a:rPr lang="en-IN" dirty="0" err="1"/>
              <a:t>EmailMessage</a:t>
            </a:r>
            <a:r>
              <a:rPr lang="en-IN" dirty="0"/>
              <a:t>.</a:t>
            </a:r>
          </a:p>
          <a:p>
            <a:pPr lvl="1"/>
            <a:r>
              <a:rPr lang="en-IN" b="1" dirty="0"/>
              <a:t>API endpoints:</a:t>
            </a:r>
            <a:r>
              <a:rPr lang="en-IN" dirty="0"/>
              <a:t> Health checks, analysis (background/</a:t>
            </a:r>
            <a:r>
              <a:rPr lang="en-IN" dirty="0" err="1"/>
              <a:t>behavior</a:t>
            </a:r>
            <a:r>
              <a:rPr lang="en-IN" dirty="0"/>
              <a:t>/role model/income/complete), survey submission, assessments; Swagger docs enabled.</a:t>
            </a:r>
          </a:p>
          <a:p>
            <a:pPr marL="0" indent="0">
              <a:buNone/>
            </a:pPr>
            <a:endParaRPr lang="en-IN" dirty="0"/>
          </a:p>
        </p:txBody>
      </p:sp>
    </p:spTree>
    <p:extLst>
      <p:ext uri="{BB962C8B-B14F-4D97-AF65-F5344CB8AC3E}">
        <p14:creationId xmlns:p14="http://schemas.microsoft.com/office/powerpoint/2010/main" val="7302480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4F968-C1EC-EE52-CEAC-763D903B7198}"/>
              </a:ext>
            </a:extLst>
          </p:cNvPr>
          <p:cNvSpPr>
            <a:spLocks noGrp="1"/>
          </p:cNvSpPr>
          <p:nvPr>
            <p:ph type="title"/>
          </p:nvPr>
        </p:nvSpPr>
        <p:spPr/>
        <p:txBody>
          <a:bodyPr/>
          <a:lstStyle/>
          <a:p>
            <a:r>
              <a:rPr lang="en-IN" dirty="0"/>
              <a:t>Implementation Details continued</a:t>
            </a:r>
          </a:p>
        </p:txBody>
      </p:sp>
      <p:sp>
        <p:nvSpPr>
          <p:cNvPr id="3" name="Content Placeholder 2">
            <a:extLst>
              <a:ext uri="{FF2B5EF4-FFF2-40B4-BE49-F238E27FC236}">
                <a16:creationId xmlns:a16="http://schemas.microsoft.com/office/drawing/2014/main" id="{88192492-33DC-737B-821A-1655CB95E029}"/>
              </a:ext>
            </a:extLst>
          </p:cNvPr>
          <p:cNvSpPr>
            <a:spLocks noGrp="1"/>
          </p:cNvSpPr>
          <p:nvPr>
            <p:ph idx="1"/>
          </p:nvPr>
        </p:nvSpPr>
        <p:spPr>
          <a:xfrm>
            <a:off x="1950720" y="1905000"/>
            <a:ext cx="9553892" cy="4724400"/>
          </a:xfrm>
        </p:spPr>
        <p:txBody>
          <a:bodyPr>
            <a:normAutofit fontScale="92500" lnSpcReduction="20000"/>
          </a:bodyPr>
          <a:lstStyle/>
          <a:p>
            <a:r>
              <a:rPr lang="en-IN" b="1" dirty="0"/>
              <a:t>Frontend (React / TypeScript)</a:t>
            </a:r>
            <a:endParaRPr lang="en-IN" dirty="0"/>
          </a:p>
          <a:p>
            <a:pPr lvl="1"/>
            <a:r>
              <a:rPr lang="en-IN" b="1" dirty="0"/>
              <a:t>Structure:</a:t>
            </a:r>
            <a:r>
              <a:rPr lang="en-IN" dirty="0"/>
              <a:t> frontend/</a:t>
            </a:r>
            <a:r>
              <a:rPr lang="en-IN" dirty="0" err="1"/>
              <a:t>src</a:t>
            </a:r>
            <a:r>
              <a:rPr lang="en-IN" dirty="0"/>
              <a:t>/ with pages/components; routing via </a:t>
            </a:r>
            <a:r>
              <a:rPr lang="en-IN" dirty="0" err="1"/>
              <a:t>App.tsx</a:t>
            </a:r>
            <a:r>
              <a:rPr lang="en-IN" dirty="0"/>
              <a:t>/</a:t>
            </a:r>
            <a:r>
              <a:rPr lang="en-IN" dirty="0" err="1"/>
              <a:t>main.tsx</a:t>
            </a:r>
            <a:r>
              <a:rPr lang="en-IN" dirty="0"/>
              <a:t>.</a:t>
            </a:r>
          </a:p>
          <a:p>
            <a:pPr lvl="1"/>
            <a:r>
              <a:rPr lang="en-IN" b="1" dirty="0"/>
              <a:t>Key components:</a:t>
            </a:r>
            <a:endParaRPr lang="en-IN" dirty="0"/>
          </a:p>
          <a:p>
            <a:pPr lvl="2"/>
            <a:r>
              <a:rPr lang="en-IN" dirty="0"/>
              <a:t>Auth: </a:t>
            </a:r>
            <a:r>
              <a:rPr lang="en-IN" dirty="0" err="1"/>
              <a:t>LoginPage.tsx</a:t>
            </a:r>
            <a:r>
              <a:rPr lang="en-IN" dirty="0"/>
              <a:t>, </a:t>
            </a:r>
            <a:r>
              <a:rPr lang="en-IN" dirty="0" err="1"/>
              <a:t>SignupPage.tsx</a:t>
            </a:r>
            <a:r>
              <a:rPr lang="en-IN" dirty="0"/>
              <a:t>, </a:t>
            </a:r>
            <a:r>
              <a:rPr lang="en-IN" dirty="0" err="1"/>
              <a:t>VerifyEmailPage.tsx</a:t>
            </a:r>
            <a:r>
              <a:rPr lang="en-IN" dirty="0"/>
              <a:t>.</a:t>
            </a:r>
          </a:p>
          <a:p>
            <a:pPr lvl="2"/>
            <a:r>
              <a:rPr lang="en-IN" dirty="0"/>
              <a:t>Survey: </a:t>
            </a:r>
            <a:r>
              <a:rPr lang="en-IN" dirty="0" err="1"/>
              <a:t>SurveyForm.tsx</a:t>
            </a:r>
            <a:r>
              <a:rPr lang="en-IN" dirty="0"/>
              <a:t> (backend integration via utils/</a:t>
            </a:r>
            <a:r>
              <a:rPr lang="en-IN" dirty="0" err="1"/>
              <a:t>api.ts</a:t>
            </a:r>
            <a:r>
              <a:rPr lang="en-IN" dirty="0"/>
              <a:t>).</a:t>
            </a:r>
          </a:p>
          <a:p>
            <a:pPr lvl="2"/>
            <a:r>
              <a:rPr lang="en-IN" dirty="0"/>
              <a:t>Analytics dashboards: </a:t>
            </a:r>
            <a:r>
              <a:rPr lang="en-IN" dirty="0" err="1"/>
              <a:t>AnalyticsDashboard.tsx</a:t>
            </a:r>
            <a:r>
              <a:rPr lang="en-IN" dirty="0"/>
              <a:t> + subcomponents (</a:t>
            </a:r>
            <a:r>
              <a:rPr lang="en-IN" dirty="0" err="1"/>
              <a:t>BackgroundAnalysis</a:t>
            </a:r>
            <a:r>
              <a:rPr lang="en-IN" dirty="0"/>
              <a:t>, </a:t>
            </a:r>
            <a:r>
              <a:rPr lang="en-IN" dirty="0" err="1"/>
              <a:t>BehavioralImpact</a:t>
            </a:r>
            <a:r>
              <a:rPr lang="en-IN" dirty="0"/>
              <a:t>, </a:t>
            </a:r>
            <a:r>
              <a:rPr lang="en-IN" dirty="0" err="1"/>
              <a:t>IncomeDistribution</a:t>
            </a:r>
            <a:r>
              <a:rPr lang="en-IN" dirty="0"/>
              <a:t>, </a:t>
            </a:r>
            <a:r>
              <a:rPr lang="en-IN" dirty="0" err="1"/>
              <a:t>RoleModelAnalysis</a:t>
            </a:r>
            <a:r>
              <a:rPr lang="en-IN" dirty="0"/>
              <a:t>).</a:t>
            </a:r>
          </a:p>
          <a:p>
            <a:pPr lvl="2"/>
            <a:r>
              <a:rPr lang="en-IN" dirty="0"/>
              <a:t>Recommendations &amp; mentor matching: </a:t>
            </a:r>
            <a:r>
              <a:rPr lang="en-IN" dirty="0" err="1"/>
              <a:t>MentorConnections.tsx</a:t>
            </a:r>
            <a:r>
              <a:rPr lang="en-IN" dirty="0"/>
              <a:t>, </a:t>
            </a:r>
            <a:r>
              <a:rPr lang="en-IN" dirty="0" err="1"/>
              <a:t>DataDrivenPaths.tsx</a:t>
            </a:r>
            <a:r>
              <a:rPr lang="en-IN" dirty="0"/>
              <a:t>, </a:t>
            </a:r>
            <a:r>
              <a:rPr lang="en-IN" dirty="0" err="1"/>
              <a:t>StudentAssessment.tsx</a:t>
            </a:r>
            <a:r>
              <a:rPr lang="en-IN" dirty="0"/>
              <a:t>, </a:t>
            </a:r>
            <a:r>
              <a:rPr lang="en-IN" dirty="0" err="1"/>
              <a:t>MyAssessments.tsx</a:t>
            </a:r>
            <a:r>
              <a:rPr lang="en-IN" dirty="0"/>
              <a:t>.</a:t>
            </a:r>
          </a:p>
          <a:p>
            <a:pPr lvl="2"/>
            <a:r>
              <a:rPr lang="en-IN" dirty="0"/>
              <a:t>Resources/help: </a:t>
            </a:r>
            <a:r>
              <a:rPr lang="en-IN" dirty="0" err="1"/>
              <a:t>Resources.tsx</a:t>
            </a:r>
            <a:r>
              <a:rPr lang="en-IN" dirty="0"/>
              <a:t>, </a:t>
            </a:r>
            <a:r>
              <a:rPr lang="en-IN" dirty="0" err="1"/>
              <a:t>About.tsx</a:t>
            </a:r>
            <a:r>
              <a:rPr lang="en-IN" dirty="0"/>
              <a:t>.</a:t>
            </a:r>
          </a:p>
          <a:p>
            <a:pPr lvl="1"/>
            <a:r>
              <a:rPr lang="en-IN" b="1" dirty="0"/>
              <a:t>Styling &amp; build:</a:t>
            </a:r>
            <a:r>
              <a:rPr lang="en-IN" dirty="0"/>
              <a:t> Tailwind, </a:t>
            </a:r>
            <a:r>
              <a:rPr lang="en-IN" dirty="0" err="1"/>
              <a:t>PostCSS</a:t>
            </a:r>
            <a:r>
              <a:rPr lang="en-IN" dirty="0"/>
              <a:t>, Vite bundler; Jest + React Testing Library for component tests.</a:t>
            </a:r>
          </a:p>
          <a:p>
            <a:r>
              <a:rPr lang="en-IN" b="1" dirty="0"/>
              <a:t>Data &amp; Assets</a:t>
            </a:r>
            <a:endParaRPr lang="en-IN" dirty="0"/>
          </a:p>
          <a:p>
            <a:pPr lvl="1"/>
            <a:r>
              <a:rPr lang="en-IN" dirty="0"/>
              <a:t>Survey Excel/CSV files, plots, XLSX exports, RL weights (</a:t>
            </a:r>
            <a:r>
              <a:rPr lang="en-IN" dirty="0" err="1"/>
              <a:t>role_model_rl_weights.pkl</a:t>
            </a:r>
            <a:r>
              <a:rPr lang="en-IN" dirty="0"/>
              <a:t>) under models/.</a:t>
            </a:r>
          </a:p>
          <a:p>
            <a:pPr lvl="1"/>
            <a:r>
              <a:rPr lang="en-IN" dirty="0"/>
              <a:t>SQLite database </a:t>
            </a:r>
            <a:r>
              <a:rPr lang="en-IN" dirty="0" err="1"/>
              <a:t>surveys.db</a:t>
            </a:r>
            <a:r>
              <a:rPr lang="en-IN" dirty="0"/>
              <a:t> for auth/assessments; </a:t>
            </a:r>
            <a:r>
              <a:rPr lang="en-IN" dirty="0" err="1"/>
              <a:t>pgvector</a:t>
            </a:r>
            <a:r>
              <a:rPr lang="en-IN" dirty="0"/>
              <a:t> DSN for vector store; Redis cache for hot reads.</a:t>
            </a:r>
          </a:p>
          <a:p>
            <a:endParaRPr lang="en-IN" dirty="0"/>
          </a:p>
        </p:txBody>
      </p:sp>
    </p:spTree>
    <p:extLst>
      <p:ext uri="{BB962C8B-B14F-4D97-AF65-F5344CB8AC3E}">
        <p14:creationId xmlns:p14="http://schemas.microsoft.com/office/powerpoint/2010/main" val="35798203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38701-B407-C4AD-CAAC-1115E11066B1}"/>
              </a:ext>
            </a:extLst>
          </p:cNvPr>
          <p:cNvSpPr>
            <a:spLocks noGrp="1"/>
          </p:cNvSpPr>
          <p:nvPr>
            <p:ph type="title"/>
          </p:nvPr>
        </p:nvSpPr>
        <p:spPr/>
        <p:txBody>
          <a:bodyPr/>
          <a:lstStyle/>
          <a:p>
            <a:r>
              <a:rPr lang="en-IN" dirty="0"/>
              <a:t>Challenges &amp; Mitigation</a:t>
            </a:r>
          </a:p>
        </p:txBody>
      </p:sp>
      <p:sp>
        <p:nvSpPr>
          <p:cNvPr id="3" name="Content Placeholder 2">
            <a:extLst>
              <a:ext uri="{FF2B5EF4-FFF2-40B4-BE49-F238E27FC236}">
                <a16:creationId xmlns:a16="http://schemas.microsoft.com/office/drawing/2014/main" id="{7D7E570B-8CA5-71CD-5FBC-DBC46FE24DA7}"/>
              </a:ext>
            </a:extLst>
          </p:cNvPr>
          <p:cNvSpPr>
            <a:spLocks noGrp="1"/>
          </p:cNvSpPr>
          <p:nvPr>
            <p:ph idx="1"/>
          </p:nvPr>
        </p:nvSpPr>
        <p:spPr>
          <a:xfrm>
            <a:off x="1747520" y="1696720"/>
            <a:ext cx="9757092" cy="4846320"/>
          </a:xfrm>
        </p:spPr>
        <p:txBody>
          <a:bodyPr>
            <a:normAutofit fontScale="77500" lnSpcReduction="20000"/>
          </a:bodyPr>
          <a:lstStyle/>
          <a:p>
            <a:r>
              <a:rPr lang="en-IN" b="1" dirty="0"/>
              <a:t>Challenges</a:t>
            </a:r>
            <a:endParaRPr lang="en-IN" dirty="0"/>
          </a:p>
          <a:p>
            <a:pPr lvl="1"/>
            <a:r>
              <a:rPr lang="en-IN" b="1" dirty="0"/>
              <a:t>Data quality &amp; duplicates:</a:t>
            </a:r>
            <a:r>
              <a:rPr lang="en-IN" dirty="0"/>
              <a:t> Legacy survey rows lacked unique IDs and had inconsistent fields.</a:t>
            </a:r>
            <a:br>
              <a:rPr lang="en-IN" dirty="0"/>
            </a:br>
            <a:r>
              <a:rPr lang="en-IN" i="1" dirty="0"/>
              <a:t>Mitigation:</a:t>
            </a:r>
            <a:r>
              <a:rPr lang="en-IN" dirty="0"/>
              <a:t> Normalized inputs, hashed rows (</a:t>
            </a:r>
            <a:r>
              <a:rPr lang="en-IN" dirty="0" err="1"/>
              <a:t>compute_survey_row_hash</a:t>
            </a:r>
            <a:r>
              <a:rPr lang="en-IN" dirty="0"/>
              <a:t>), backfilled legacy records, enforced unique indexes, and cleaned duplicates.</a:t>
            </a:r>
          </a:p>
          <a:p>
            <a:pPr lvl="1"/>
            <a:r>
              <a:rPr lang="en-IN" b="1" dirty="0"/>
              <a:t>Sparse/empty datasets for </a:t>
            </a:r>
            <a:r>
              <a:rPr lang="en-IN" b="1" dirty="0" err="1"/>
              <a:t>modeling</a:t>
            </a:r>
            <a:r>
              <a:rPr lang="en-IN" b="1" dirty="0"/>
              <a:t>:</a:t>
            </a:r>
            <a:r>
              <a:rPr lang="en-IN" dirty="0"/>
              <a:t> Risk of crashes or unreliable regression outputs.</a:t>
            </a:r>
            <a:br>
              <a:rPr lang="en-IN" dirty="0"/>
            </a:br>
            <a:r>
              <a:rPr lang="en-IN" i="1" dirty="0"/>
              <a:t>Mitigation:</a:t>
            </a:r>
            <a:r>
              <a:rPr lang="en-IN" dirty="0"/>
              <a:t> Guardrails to short-circuit on empty data, normalized missing values before hierarchical regression and sentiment analysis.</a:t>
            </a:r>
          </a:p>
          <a:p>
            <a:pPr lvl="1"/>
            <a:r>
              <a:rPr lang="en-IN" b="1" dirty="0"/>
              <a:t>Schema drift across legacy files:</a:t>
            </a:r>
            <a:r>
              <a:rPr lang="en-IN" dirty="0"/>
              <a:t> Excel/CSV sources vary; ingestion could fail silently.</a:t>
            </a:r>
            <a:br>
              <a:rPr lang="en-IN" dirty="0"/>
            </a:br>
            <a:r>
              <a:rPr lang="en-IN" i="1" dirty="0"/>
              <a:t>Mitigation:</a:t>
            </a:r>
            <a:r>
              <a:rPr lang="en-IN" dirty="0"/>
              <a:t> Explicit SURVEY_COLUMNS, normalization helpers, ALTER TABLE fallbacks wrapped in try/except for safe, idempotent migrations.</a:t>
            </a:r>
          </a:p>
          <a:p>
            <a:pPr lvl="1"/>
            <a:r>
              <a:rPr lang="en-IN" b="1" dirty="0"/>
              <a:t>Performance &amp; responsiveness:</a:t>
            </a:r>
            <a:r>
              <a:rPr lang="en-IN" dirty="0"/>
              <a:t> Analytics can be heavy; API may slow under load.</a:t>
            </a:r>
            <a:br>
              <a:rPr lang="en-IN" dirty="0"/>
            </a:br>
            <a:r>
              <a:rPr lang="en-IN" i="1" dirty="0"/>
              <a:t>Mitigation:</a:t>
            </a:r>
            <a:r>
              <a:rPr lang="en-IN" dirty="0"/>
              <a:t> Redis caching, Celery for async tasks, caching hooks around analysis endpoints.</a:t>
            </a:r>
          </a:p>
          <a:p>
            <a:pPr lvl="1"/>
            <a:r>
              <a:rPr lang="en-IN" b="1" dirty="0"/>
              <a:t>Secure, reliable auth:</a:t>
            </a:r>
            <a:r>
              <a:rPr lang="en-IN" dirty="0"/>
              <a:t> Needed basic security without a full IAM stack.</a:t>
            </a:r>
            <a:br>
              <a:rPr lang="en-IN" dirty="0"/>
            </a:br>
            <a:r>
              <a:rPr lang="en-IN" i="1" dirty="0"/>
              <a:t>Mitigation:</a:t>
            </a:r>
            <a:r>
              <a:rPr lang="en-IN" dirty="0"/>
              <a:t> Hashed passwords, role checks, verification tokens, email/SMS hooks; schema migrations guarded to prevent downtime.</a:t>
            </a:r>
          </a:p>
          <a:p>
            <a:r>
              <a:rPr lang="en-IN" b="1" dirty="0"/>
              <a:t>How We Addressed Them</a:t>
            </a:r>
            <a:endParaRPr lang="en-IN" dirty="0"/>
          </a:p>
          <a:p>
            <a:pPr lvl="1"/>
            <a:r>
              <a:rPr lang="en-IN" dirty="0"/>
              <a:t>Validation + </a:t>
            </a:r>
            <a:r>
              <a:rPr lang="en-IN" dirty="0" err="1"/>
              <a:t>dedup</a:t>
            </a:r>
            <a:r>
              <a:rPr lang="en-IN" dirty="0"/>
              <a:t> pipeline at ingest; deterministic SHA-256 hashes and unique index.</a:t>
            </a:r>
          </a:p>
          <a:p>
            <a:pPr lvl="1"/>
            <a:r>
              <a:rPr lang="en-IN" dirty="0"/>
              <a:t>Defensive coding: empty-data checks, normalization for null/whitespace, safe schema migrations.</a:t>
            </a:r>
          </a:p>
          <a:p>
            <a:pPr lvl="1"/>
            <a:r>
              <a:rPr lang="en-IN" dirty="0"/>
              <a:t>Modular analytics: separate sentiment modules and regression pipeline; rerunnable on new data.</a:t>
            </a:r>
          </a:p>
          <a:p>
            <a:pPr lvl="1"/>
            <a:r>
              <a:rPr lang="en-IN" dirty="0"/>
              <a:t>Infra hooks: Redis/Celery for async/caching; JSON logging for observability.</a:t>
            </a:r>
          </a:p>
          <a:p>
            <a:pPr lvl="1"/>
            <a:r>
              <a:rPr lang="en-IN" dirty="0"/>
              <a:t>Auth hygiene: hashed passwords, verification flow, and role constraints.</a:t>
            </a:r>
          </a:p>
          <a:p>
            <a:endParaRPr lang="en-IN" dirty="0"/>
          </a:p>
        </p:txBody>
      </p:sp>
    </p:spTree>
    <p:extLst>
      <p:ext uri="{BB962C8B-B14F-4D97-AF65-F5344CB8AC3E}">
        <p14:creationId xmlns:p14="http://schemas.microsoft.com/office/powerpoint/2010/main" val="42442712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C18E2-77DA-36FC-970A-3F84ED978DBD}"/>
              </a:ext>
            </a:extLst>
          </p:cNvPr>
          <p:cNvSpPr>
            <a:spLocks noGrp="1"/>
          </p:cNvSpPr>
          <p:nvPr>
            <p:ph type="title"/>
          </p:nvPr>
        </p:nvSpPr>
        <p:spPr/>
        <p:txBody>
          <a:bodyPr/>
          <a:lstStyle/>
          <a:p>
            <a:r>
              <a:rPr lang="en-IN" dirty="0"/>
              <a:t>References </a:t>
            </a:r>
          </a:p>
        </p:txBody>
      </p:sp>
      <p:sp>
        <p:nvSpPr>
          <p:cNvPr id="3" name="Content Placeholder 2">
            <a:extLst>
              <a:ext uri="{FF2B5EF4-FFF2-40B4-BE49-F238E27FC236}">
                <a16:creationId xmlns:a16="http://schemas.microsoft.com/office/drawing/2014/main" id="{1D50EFD4-5D1F-AF85-770E-26F28CDDCF48}"/>
              </a:ext>
            </a:extLst>
          </p:cNvPr>
          <p:cNvSpPr>
            <a:spLocks noGrp="1"/>
          </p:cNvSpPr>
          <p:nvPr>
            <p:ph idx="1"/>
          </p:nvPr>
        </p:nvSpPr>
        <p:spPr>
          <a:xfrm>
            <a:off x="1259840" y="1524000"/>
            <a:ext cx="10244772" cy="5334000"/>
          </a:xfrm>
        </p:spPr>
        <p:txBody>
          <a:bodyPr>
            <a:normAutofit fontScale="85000" lnSpcReduction="10000"/>
          </a:bodyPr>
          <a:lstStyle/>
          <a:p>
            <a:pPr>
              <a:lnSpc>
                <a:spcPct val="107000"/>
              </a:lnSpc>
            </a:pPr>
            <a:r>
              <a:rPr lang="es-MX" b="1" kern="100" dirty="0" err="1">
                <a:latin typeface="Times New Roman" panose="02020603050405020304" pitchFamily="18" charset="0"/>
                <a:ea typeface="Calibri" panose="020F0502020204030204" pitchFamily="34" charset="0"/>
                <a:cs typeface="Mangal" panose="02040503050203030202" pitchFamily="18" charset="0"/>
              </a:rPr>
              <a:t>Kolog</a:t>
            </a:r>
            <a:r>
              <a:rPr lang="es-MX" b="1" kern="100" dirty="0">
                <a:latin typeface="Times New Roman" panose="02020603050405020304" pitchFamily="18" charset="0"/>
                <a:ea typeface="Calibri" panose="020F0502020204030204" pitchFamily="34" charset="0"/>
                <a:cs typeface="Mangal" panose="02040503050203030202" pitchFamily="18" charset="0"/>
              </a:rPr>
              <a:t>, E.A., Montero, C.S., </a:t>
            </a:r>
            <a:r>
              <a:rPr lang="es-MX" b="1" kern="100" dirty="0" err="1">
                <a:latin typeface="Times New Roman" panose="02020603050405020304" pitchFamily="18" charset="0"/>
                <a:ea typeface="Calibri" panose="020F0502020204030204" pitchFamily="34" charset="0"/>
                <a:cs typeface="Mangal" panose="02040503050203030202" pitchFamily="18" charset="0"/>
              </a:rPr>
              <a:t>Tukiainen</a:t>
            </a:r>
            <a:r>
              <a:rPr lang="es-MX" b="1" kern="100" dirty="0">
                <a:latin typeface="Times New Roman" panose="02020603050405020304" pitchFamily="18" charset="0"/>
                <a:ea typeface="Calibri" panose="020F0502020204030204" pitchFamily="34" charset="0"/>
                <a:cs typeface="Mangal" panose="02040503050203030202" pitchFamily="18" charset="0"/>
              </a:rPr>
              <a:t>, M., 2017.</a:t>
            </a:r>
            <a:r>
              <a:rPr lang="es-MX" kern="100" dirty="0">
                <a:latin typeface="Times New Roman" panose="02020603050405020304" pitchFamily="18" charset="0"/>
                <a:ea typeface="Calibri" panose="020F0502020204030204" pitchFamily="34" charset="0"/>
                <a:cs typeface="Mangal" panose="02040503050203030202" pitchFamily="18" charset="0"/>
              </a:rPr>
              <a:t> </a:t>
            </a:r>
            <a:r>
              <a:rPr lang="en-IN" kern="100" dirty="0">
                <a:latin typeface="Times New Roman" panose="02020603050405020304" pitchFamily="18" charset="0"/>
                <a:ea typeface="Calibri" panose="020F0502020204030204" pitchFamily="34" charset="0"/>
                <a:cs typeface="Mangal" panose="02040503050203030202" pitchFamily="18" charset="0"/>
              </a:rPr>
              <a:t>Development and evaluation of an automated e-counselling system for emotion and sentiment analysis. </a:t>
            </a:r>
            <a:r>
              <a:rPr lang="en-IN" i="1" kern="100" dirty="0">
                <a:latin typeface="Times New Roman" panose="02020603050405020304" pitchFamily="18" charset="0"/>
                <a:ea typeface="Calibri" panose="020F0502020204030204" pitchFamily="34" charset="0"/>
                <a:cs typeface="Mangal" panose="02040503050203030202" pitchFamily="18" charset="0"/>
              </a:rPr>
              <a:t>Int. J. Educ. Technol. High. Educ.</a:t>
            </a:r>
            <a:r>
              <a:rPr lang="en-IN" kern="100" dirty="0">
                <a:latin typeface="Times New Roman" panose="02020603050405020304" pitchFamily="18" charset="0"/>
                <a:ea typeface="Calibri" panose="020F0502020204030204" pitchFamily="34" charset="0"/>
                <a:cs typeface="Mangal" panose="02040503050203030202" pitchFamily="18" charset="0"/>
              </a:rPr>
              <a:t> 14, 41.</a:t>
            </a:r>
            <a:endParaRPr lang="en-IN" kern="100" dirty="0">
              <a:latin typeface="Calibri" panose="020F0502020204030204" pitchFamily="34" charset="0"/>
              <a:ea typeface="Calibri" panose="020F0502020204030204" pitchFamily="34" charset="0"/>
              <a:cs typeface="Mangal" panose="02040503050203030202" pitchFamily="18" charset="0"/>
            </a:endParaRPr>
          </a:p>
          <a:p>
            <a:pPr>
              <a:lnSpc>
                <a:spcPct val="107000"/>
              </a:lnSpc>
            </a:pPr>
            <a:r>
              <a:rPr lang="en-IN" b="1" kern="100" dirty="0">
                <a:latin typeface="Times New Roman" panose="02020603050405020304" pitchFamily="18" charset="0"/>
                <a:ea typeface="Calibri" panose="020F0502020204030204" pitchFamily="34" charset="0"/>
                <a:cs typeface="Mangal" panose="02040503050203030202" pitchFamily="18" charset="0"/>
              </a:rPr>
              <a:t>Kastrati, Z., Dalipi, F., Imran, A.S., Nuci, K.P., Wani, M.A., 2021.</a:t>
            </a:r>
            <a:r>
              <a:rPr lang="en-IN" kern="100" dirty="0">
                <a:latin typeface="Times New Roman" panose="02020603050405020304" pitchFamily="18" charset="0"/>
                <a:ea typeface="Calibri" panose="020F0502020204030204" pitchFamily="34" charset="0"/>
                <a:cs typeface="Mangal" panose="02040503050203030202" pitchFamily="18" charset="0"/>
              </a:rPr>
              <a:t> Sentiment analysis of students' feedback with NLP and deep learning: A systematic mapping study. </a:t>
            </a:r>
            <a:r>
              <a:rPr lang="en-IN" i="1" kern="100" dirty="0">
                <a:latin typeface="Times New Roman" panose="02020603050405020304" pitchFamily="18" charset="0"/>
                <a:ea typeface="Calibri" panose="020F0502020204030204" pitchFamily="34" charset="0"/>
                <a:cs typeface="Mangal" panose="02040503050203030202" pitchFamily="18" charset="0"/>
              </a:rPr>
              <a:t>Appl. Sci.</a:t>
            </a:r>
            <a:r>
              <a:rPr lang="en-IN" kern="100" dirty="0">
                <a:latin typeface="Times New Roman" panose="02020603050405020304" pitchFamily="18" charset="0"/>
                <a:ea typeface="Calibri" panose="020F0502020204030204" pitchFamily="34" charset="0"/>
                <a:cs typeface="Mangal" panose="02040503050203030202" pitchFamily="18" charset="0"/>
              </a:rPr>
              <a:t> 11(9), 3986.</a:t>
            </a:r>
            <a:endParaRPr lang="en-IN" kern="100" dirty="0">
              <a:latin typeface="Calibri" panose="020F0502020204030204" pitchFamily="34" charset="0"/>
              <a:ea typeface="Calibri" panose="020F0502020204030204" pitchFamily="34" charset="0"/>
              <a:cs typeface="Mangal" panose="02040503050203030202" pitchFamily="18" charset="0"/>
            </a:endParaRPr>
          </a:p>
          <a:p>
            <a:pPr>
              <a:lnSpc>
                <a:spcPct val="107000"/>
              </a:lnSpc>
            </a:pPr>
            <a:r>
              <a:rPr lang="en-IN" b="1" kern="100" dirty="0">
                <a:latin typeface="Times New Roman" panose="02020603050405020304" pitchFamily="18" charset="0"/>
                <a:ea typeface="Calibri" panose="020F0502020204030204" pitchFamily="34" charset="0"/>
                <a:cs typeface="Mangal" panose="02040503050203030202" pitchFamily="18" charset="0"/>
              </a:rPr>
              <a:t>Shaik, T., Tao, X., Dann, C., Xie, H., Li, Y., Galligan, L., 2023.</a:t>
            </a:r>
            <a:r>
              <a:rPr lang="en-IN" kern="100" dirty="0">
                <a:latin typeface="Times New Roman" panose="02020603050405020304" pitchFamily="18" charset="0"/>
                <a:ea typeface="Calibri" panose="020F0502020204030204" pitchFamily="34" charset="0"/>
                <a:cs typeface="Mangal" panose="02040503050203030202" pitchFamily="18" charset="0"/>
              </a:rPr>
              <a:t> Sentiment analysis and opinion mining on educational data: A survey. </a:t>
            </a:r>
            <a:r>
              <a:rPr lang="en-IN" i="1" kern="100" dirty="0" err="1">
                <a:latin typeface="Times New Roman" panose="02020603050405020304" pitchFamily="18" charset="0"/>
                <a:ea typeface="Calibri" panose="020F0502020204030204" pitchFamily="34" charset="0"/>
                <a:cs typeface="Mangal" panose="02040503050203030202" pitchFamily="18" charset="0"/>
              </a:rPr>
              <a:t>arXiv</a:t>
            </a:r>
            <a:r>
              <a:rPr lang="en-IN" i="1" kern="100" dirty="0">
                <a:latin typeface="Times New Roman" panose="02020603050405020304" pitchFamily="18" charset="0"/>
                <a:ea typeface="Calibri" panose="020F0502020204030204" pitchFamily="34" charset="0"/>
                <a:cs typeface="Mangal" panose="02040503050203030202" pitchFamily="18" charset="0"/>
              </a:rPr>
              <a:t> preprint</a:t>
            </a:r>
            <a:r>
              <a:rPr lang="en-IN" kern="100" dirty="0">
                <a:latin typeface="Times New Roman" panose="02020603050405020304" pitchFamily="18" charset="0"/>
                <a:ea typeface="Calibri" panose="020F0502020204030204" pitchFamily="34" charset="0"/>
                <a:cs typeface="Mangal" panose="02040503050203030202" pitchFamily="18" charset="0"/>
              </a:rPr>
              <a:t> arXiv:2302.04359.</a:t>
            </a:r>
            <a:endParaRPr lang="en-IN" kern="100" dirty="0">
              <a:latin typeface="Calibri" panose="020F0502020204030204" pitchFamily="34" charset="0"/>
              <a:ea typeface="Calibri" panose="020F0502020204030204" pitchFamily="34" charset="0"/>
              <a:cs typeface="Mangal" panose="02040503050203030202" pitchFamily="18" charset="0"/>
            </a:endParaRPr>
          </a:p>
          <a:p>
            <a:pPr>
              <a:lnSpc>
                <a:spcPct val="107000"/>
              </a:lnSpc>
            </a:pPr>
            <a:r>
              <a:rPr lang="en-IN" b="1" kern="100" dirty="0">
                <a:latin typeface="Times New Roman" panose="02020603050405020304" pitchFamily="18" charset="0"/>
                <a:ea typeface="Calibri" panose="020F0502020204030204" pitchFamily="34" charset="0"/>
                <a:cs typeface="Mangal" panose="02040503050203030202" pitchFamily="18" charset="0"/>
              </a:rPr>
              <a:t>Tamrakar, L., Shrivastava, P., Ghosh, S.M., 2021.</a:t>
            </a:r>
            <a:r>
              <a:rPr lang="en-IN" kern="100" dirty="0">
                <a:latin typeface="Times New Roman" panose="02020603050405020304" pitchFamily="18" charset="0"/>
                <a:ea typeface="Calibri" panose="020F0502020204030204" pitchFamily="34" charset="0"/>
                <a:cs typeface="Mangal" panose="02040503050203030202" pitchFamily="18" charset="0"/>
              </a:rPr>
              <a:t> Student sentiment analysis using classification with feature extraction techniques. </a:t>
            </a:r>
            <a:r>
              <a:rPr lang="en-IN" i="1" kern="100" dirty="0" err="1">
                <a:latin typeface="Times New Roman" panose="02020603050405020304" pitchFamily="18" charset="0"/>
                <a:ea typeface="Calibri" panose="020F0502020204030204" pitchFamily="34" charset="0"/>
                <a:cs typeface="Mangal" panose="02040503050203030202" pitchFamily="18" charset="0"/>
              </a:rPr>
              <a:t>arXiv</a:t>
            </a:r>
            <a:r>
              <a:rPr lang="en-IN" i="1" kern="100" dirty="0">
                <a:latin typeface="Times New Roman" panose="02020603050405020304" pitchFamily="18" charset="0"/>
                <a:ea typeface="Calibri" panose="020F0502020204030204" pitchFamily="34" charset="0"/>
                <a:cs typeface="Mangal" panose="02040503050203030202" pitchFamily="18" charset="0"/>
              </a:rPr>
              <a:t> preprint</a:t>
            </a:r>
            <a:r>
              <a:rPr lang="en-IN" kern="100" dirty="0">
                <a:latin typeface="Times New Roman" panose="02020603050405020304" pitchFamily="18" charset="0"/>
                <a:ea typeface="Calibri" panose="020F0502020204030204" pitchFamily="34" charset="0"/>
                <a:cs typeface="Mangal" panose="02040503050203030202" pitchFamily="18" charset="0"/>
              </a:rPr>
              <a:t> arXiv:2102.05439.</a:t>
            </a:r>
            <a:endParaRPr lang="en-IN" kern="100" dirty="0">
              <a:latin typeface="Calibri" panose="020F0502020204030204" pitchFamily="34" charset="0"/>
              <a:ea typeface="Calibri" panose="020F0502020204030204" pitchFamily="34" charset="0"/>
              <a:cs typeface="Mangal" panose="02040503050203030202" pitchFamily="18" charset="0"/>
            </a:endParaRPr>
          </a:p>
          <a:p>
            <a:pPr>
              <a:lnSpc>
                <a:spcPct val="107000"/>
              </a:lnSpc>
            </a:pPr>
            <a:r>
              <a:rPr lang="en-IN" b="1" kern="100" dirty="0">
                <a:latin typeface="Times New Roman" panose="02020603050405020304" pitchFamily="18" charset="0"/>
                <a:ea typeface="Calibri" panose="020F0502020204030204" pitchFamily="34" charset="0"/>
                <a:cs typeface="Mangal" panose="02040503050203030202" pitchFamily="18" charset="0"/>
              </a:rPr>
              <a:t>Zhao, X., Luan, X., Liu, X., Wang, H., 2021.</a:t>
            </a:r>
            <a:r>
              <a:rPr lang="en-IN" kern="100" dirty="0">
                <a:latin typeface="Times New Roman" panose="02020603050405020304" pitchFamily="18" charset="0"/>
                <a:ea typeface="Calibri" panose="020F0502020204030204" pitchFamily="34" charset="0"/>
                <a:cs typeface="Mangal" panose="02040503050203030202" pitchFamily="18" charset="0"/>
              </a:rPr>
              <a:t> Sentiment analysis of public opinions on the higher education expansion policy in China. </a:t>
            </a:r>
            <a:r>
              <a:rPr lang="en-IN" i="1" kern="100" dirty="0">
                <a:latin typeface="Times New Roman" panose="02020603050405020304" pitchFamily="18" charset="0"/>
                <a:ea typeface="Calibri" panose="020F0502020204030204" pitchFamily="34" charset="0"/>
                <a:cs typeface="Mangal" panose="02040503050203030202" pitchFamily="18" charset="0"/>
              </a:rPr>
              <a:t>SAGE Open</a:t>
            </a:r>
            <a:r>
              <a:rPr lang="en-IN" kern="100" dirty="0">
                <a:latin typeface="Times New Roman" panose="02020603050405020304" pitchFamily="18" charset="0"/>
                <a:ea typeface="Calibri" panose="020F0502020204030204" pitchFamily="34" charset="0"/>
                <a:cs typeface="Mangal" panose="02040503050203030202" pitchFamily="18" charset="0"/>
              </a:rPr>
              <a:t> 11(3), 1–15.</a:t>
            </a:r>
            <a:endParaRPr lang="en-IN" kern="100" dirty="0">
              <a:latin typeface="Calibri" panose="020F0502020204030204" pitchFamily="34" charset="0"/>
              <a:ea typeface="Calibri" panose="020F0502020204030204" pitchFamily="34" charset="0"/>
              <a:cs typeface="Mangal" panose="02040503050203030202" pitchFamily="18" charset="0"/>
            </a:endParaRPr>
          </a:p>
          <a:p>
            <a:pPr>
              <a:lnSpc>
                <a:spcPct val="107000"/>
              </a:lnSpc>
            </a:pPr>
            <a:r>
              <a:rPr lang="en-IN" b="1" kern="100" dirty="0">
                <a:latin typeface="Times New Roman" panose="02020603050405020304" pitchFamily="18" charset="0"/>
                <a:ea typeface="Calibri" panose="020F0502020204030204" pitchFamily="34" charset="0"/>
                <a:cs typeface="Mangal" panose="02040503050203030202" pitchFamily="18" charset="0"/>
              </a:rPr>
              <a:t>Awad, M., Khalil, E., 2022.</a:t>
            </a:r>
            <a:r>
              <a:rPr lang="en-IN" kern="100" dirty="0">
                <a:latin typeface="Times New Roman" panose="02020603050405020304" pitchFamily="18" charset="0"/>
                <a:ea typeface="Calibri" panose="020F0502020204030204" pitchFamily="34" charset="0"/>
                <a:cs typeface="Mangal" panose="02040503050203030202" pitchFamily="18" charset="0"/>
              </a:rPr>
              <a:t> Sentiment analysis in learning resources. </a:t>
            </a:r>
            <a:r>
              <a:rPr lang="en-IN" i="1" kern="100" dirty="0">
                <a:latin typeface="Times New Roman" panose="02020603050405020304" pitchFamily="18" charset="0"/>
                <a:ea typeface="Calibri" panose="020F0502020204030204" pitchFamily="34" charset="0"/>
                <a:cs typeface="Mangal" panose="02040503050203030202" pitchFamily="18" charset="0"/>
              </a:rPr>
              <a:t>J. </a:t>
            </a:r>
            <a:r>
              <a:rPr lang="en-IN" i="1" kern="100" dirty="0" err="1">
                <a:latin typeface="Times New Roman" panose="02020603050405020304" pitchFamily="18" charset="0"/>
                <a:ea typeface="Calibri" panose="020F0502020204030204" pitchFamily="34" charset="0"/>
                <a:cs typeface="Mangal" panose="02040503050203030202" pitchFamily="18" charset="0"/>
              </a:rPr>
              <a:t>Comput</a:t>
            </a:r>
            <a:r>
              <a:rPr lang="en-IN" i="1" kern="100" dirty="0">
                <a:latin typeface="Times New Roman" panose="02020603050405020304" pitchFamily="18" charset="0"/>
                <a:ea typeface="Calibri" panose="020F0502020204030204" pitchFamily="34" charset="0"/>
                <a:cs typeface="Mangal" panose="02040503050203030202" pitchFamily="18" charset="0"/>
              </a:rPr>
              <a:t>. Educ.</a:t>
            </a:r>
            <a:r>
              <a:rPr lang="en-IN" kern="100" dirty="0">
                <a:latin typeface="Times New Roman" panose="02020603050405020304" pitchFamily="18" charset="0"/>
                <a:ea typeface="Calibri" panose="020F0502020204030204" pitchFamily="34" charset="0"/>
                <a:cs typeface="Mangal" panose="02040503050203030202" pitchFamily="18" charset="0"/>
              </a:rPr>
              <a:t> 9, 143–160.</a:t>
            </a:r>
            <a:endParaRPr lang="en-IN" kern="100" dirty="0">
              <a:latin typeface="Calibri" panose="020F0502020204030204" pitchFamily="34" charset="0"/>
              <a:ea typeface="Calibri" panose="020F0502020204030204" pitchFamily="34" charset="0"/>
              <a:cs typeface="Mangal" panose="02040503050203030202" pitchFamily="18" charset="0"/>
            </a:endParaRPr>
          </a:p>
          <a:p>
            <a:pPr>
              <a:lnSpc>
                <a:spcPct val="107000"/>
              </a:lnSpc>
            </a:pPr>
            <a:r>
              <a:rPr lang="en-IN" b="1" kern="100" dirty="0">
                <a:latin typeface="Times New Roman" panose="02020603050405020304" pitchFamily="18" charset="0"/>
                <a:ea typeface="Calibri" panose="020F0502020204030204" pitchFamily="34" charset="0"/>
                <a:cs typeface="Mangal" panose="02040503050203030202" pitchFamily="18" charset="0"/>
              </a:rPr>
              <a:t>Khan, S., Ahmad, R., Khan, M., 2022.</a:t>
            </a:r>
            <a:r>
              <a:rPr lang="en-IN" kern="100" dirty="0">
                <a:latin typeface="Times New Roman" panose="02020603050405020304" pitchFamily="18" charset="0"/>
                <a:ea typeface="Calibri" panose="020F0502020204030204" pitchFamily="34" charset="0"/>
                <a:cs typeface="Mangal" panose="02040503050203030202" pitchFamily="18" charset="0"/>
              </a:rPr>
              <a:t> Feedback on e-learning using a hybrid fuzzy model. </a:t>
            </a:r>
            <a:r>
              <a:rPr lang="en-IN" i="1" kern="100" dirty="0">
                <a:latin typeface="Times New Roman" panose="02020603050405020304" pitchFamily="18" charset="0"/>
                <a:ea typeface="Calibri" panose="020F0502020204030204" pitchFamily="34" charset="0"/>
                <a:cs typeface="Mangal" panose="02040503050203030202" pitchFamily="18" charset="0"/>
              </a:rPr>
              <a:t>Appl. Sci.</a:t>
            </a:r>
            <a:r>
              <a:rPr lang="en-IN" kern="100" dirty="0">
                <a:latin typeface="Times New Roman" panose="02020603050405020304" pitchFamily="18" charset="0"/>
                <a:ea typeface="Calibri" panose="020F0502020204030204" pitchFamily="34" charset="0"/>
                <a:cs typeface="Mangal" panose="02040503050203030202" pitchFamily="18" charset="0"/>
              </a:rPr>
              <a:t> 13(23), 12956.</a:t>
            </a:r>
            <a:endParaRPr lang="en-IN" kern="100" dirty="0">
              <a:latin typeface="Calibri" panose="020F0502020204030204" pitchFamily="34" charset="0"/>
              <a:ea typeface="Calibri" panose="020F0502020204030204" pitchFamily="34" charset="0"/>
              <a:cs typeface="Mangal" panose="02040503050203030202" pitchFamily="18" charset="0"/>
            </a:endParaRPr>
          </a:p>
          <a:p>
            <a:pPr>
              <a:lnSpc>
                <a:spcPct val="107000"/>
              </a:lnSpc>
            </a:pPr>
            <a:r>
              <a:rPr lang="es-MX" b="1" kern="100" dirty="0" err="1">
                <a:latin typeface="Times New Roman" panose="02020603050405020304" pitchFamily="18" charset="0"/>
                <a:ea typeface="Calibri" panose="020F0502020204030204" pitchFamily="34" charset="0"/>
                <a:cs typeface="Mangal" panose="02040503050203030202" pitchFamily="18" charset="0"/>
              </a:rPr>
              <a:t>Rizvi</a:t>
            </a:r>
            <a:r>
              <a:rPr lang="es-MX" b="1" kern="100" dirty="0">
                <a:latin typeface="Times New Roman" panose="02020603050405020304" pitchFamily="18" charset="0"/>
                <a:ea typeface="Calibri" panose="020F0502020204030204" pitchFamily="34" charset="0"/>
                <a:cs typeface="Mangal" panose="02040503050203030202" pitchFamily="18" charset="0"/>
              </a:rPr>
              <a:t>, S.T., Gupta, R., Malhotra, A., 2022.</a:t>
            </a:r>
            <a:r>
              <a:rPr lang="es-MX" kern="100" dirty="0">
                <a:latin typeface="Times New Roman" panose="02020603050405020304" pitchFamily="18" charset="0"/>
                <a:ea typeface="Calibri" panose="020F0502020204030204" pitchFamily="34" charset="0"/>
                <a:cs typeface="Mangal" panose="02040503050203030202" pitchFamily="18" charset="0"/>
              </a:rPr>
              <a:t> </a:t>
            </a:r>
            <a:r>
              <a:rPr lang="en-IN" kern="100" dirty="0">
                <a:latin typeface="Times New Roman" panose="02020603050405020304" pitchFamily="18" charset="0"/>
                <a:ea typeface="Calibri" panose="020F0502020204030204" pitchFamily="34" charset="0"/>
                <a:cs typeface="Mangal" panose="02040503050203030202" pitchFamily="18" charset="0"/>
              </a:rPr>
              <a:t>Integrating sentiment analysis with learning analytics for improved student outcomes. </a:t>
            </a:r>
            <a:r>
              <a:rPr lang="en-IN" i="1" kern="100" dirty="0">
                <a:latin typeface="Times New Roman" panose="02020603050405020304" pitchFamily="18" charset="0"/>
                <a:ea typeface="Calibri" panose="020F0502020204030204" pitchFamily="34" charset="0"/>
                <a:cs typeface="Mangal" panose="02040503050203030202" pitchFamily="18" charset="0"/>
              </a:rPr>
              <a:t>Int. J. Educ. Technol. High. Educ.</a:t>
            </a:r>
            <a:r>
              <a:rPr lang="en-IN" kern="100" dirty="0">
                <a:latin typeface="Times New Roman" panose="02020603050405020304" pitchFamily="18" charset="0"/>
                <a:ea typeface="Calibri" panose="020F0502020204030204" pitchFamily="34" charset="0"/>
                <a:cs typeface="Mangal" panose="02040503050203030202" pitchFamily="18" charset="0"/>
              </a:rPr>
              <a:t> 19, 76.</a:t>
            </a:r>
            <a:endParaRPr lang="en-IN" kern="100" dirty="0">
              <a:latin typeface="Calibri" panose="020F0502020204030204" pitchFamily="34" charset="0"/>
              <a:ea typeface="Calibri" panose="020F0502020204030204" pitchFamily="34" charset="0"/>
              <a:cs typeface="Mangal" panose="02040503050203030202" pitchFamily="18" charset="0"/>
            </a:endParaRPr>
          </a:p>
          <a:p>
            <a:pPr>
              <a:lnSpc>
                <a:spcPct val="107000"/>
              </a:lnSpc>
            </a:pPr>
            <a:r>
              <a:rPr lang="en-IN" b="1" kern="100" dirty="0">
                <a:latin typeface="Times New Roman" panose="02020603050405020304" pitchFamily="18" charset="0"/>
                <a:ea typeface="Calibri" panose="020F0502020204030204" pitchFamily="34" charset="0"/>
                <a:cs typeface="Mangal" panose="02040503050203030202" pitchFamily="18" charset="0"/>
              </a:rPr>
              <a:t>Patel, N., Rao, R., 2020.</a:t>
            </a:r>
            <a:r>
              <a:rPr lang="en-IN" kern="100" dirty="0">
                <a:latin typeface="Times New Roman" panose="02020603050405020304" pitchFamily="18" charset="0"/>
                <a:ea typeface="Calibri" panose="020F0502020204030204" pitchFamily="34" charset="0"/>
                <a:cs typeface="Mangal" panose="02040503050203030202" pitchFamily="18" charset="0"/>
              </a:rPr>
              <a:t> Counselling for students using sentiment analysis. </a:t>
            </a:r>
            <a:r>
              <a:rPr lang="en-IN" i="1" kern="100" dirty="0">
                <a:latin typeface="Times New Roman" panose="02020603050405020304" pitchFamily="18" charset="0"/>
                <a:ea typeface="Calibri" panose="020F0502020204030204" pitchFamily="34" charset="0"/>
                <a:cs typeface="Mangal" panose="02040503050203030202" pitchFamily="18" charset="0"/>
              </a:rPr>
              <a:t>Int. J. Adv. Res. </a:t>
            </a:r>
            <a:r>
              <a:rPr lang="en-IN" i="1" kern="100" dirty="0" err="1">
                <a:latin typeface="Times New Roman" panose="02020603050405020304" pitchFamily="18" charset="0"/>
                <a:ea typeface="Calibri" panose="020F0502020204030204" pitchFamily="34" charset="0"/>
                <a:cs typeface="Mangal" panose="02040503050203030202" pitchFamily="18" charset="0"/>
              </a:rPr>
              <a:t>Comput</a:t>
            </a:r>
            <a:r>
              <a:rPr lang="en-IN" i="1" kern="100" dirty="0">
                <a:latin typeface="Times New Roman" panose="02020603050405020304" pitchFamily="18" charset="0"/>
                <a:ea typeface="Calibri" panose="020F0502020204030204" pitchFamily="34" charset="0"/>
                <a:cs typeface="Mangal" panose="02040503050203030202" pitchFamily="18" charset="0"/>
              </a:rPr>
              <a:t>. Sci.</a:t>
            </a:r>
            <a:r>
              <a:rPr lang="en-IN" kern="100" dirty="0">
                <a:latin typeface="Times New Roman" panose="02020603050405020304" pitchFamily="18" charset="0"/>
                <a:ea typeface="Calibri" panose="020F0502020204030204" pitchFamily="34" charset="0"/>
                <a:cs typeface="Mangal" panose="02040503050203030202" pitchFamily="18" charset="0"/>
              </a:rPr>
              <a:t> 11(4), 124–132.</a:t>
            </a:r>
            <a:endParaRPr lang="en-IN" kern="100" dirty="0">
              <a:latin typeface="Calibri" panose="020F0502020204030204" pitchFamily="34" charset="0"/>
              <a:ea typeface="Calibri" panose="020F0502020204030204" pitchFamily="34" charset="0"/>
              <a:cs typeface="Mangal" panose="02040503050203030202" pitchFamily="18" charset="0"/>
            </a:endParaRPr>
          </a:p>
          <a:p>
            <a:pPr>
              <a:lnSpc>
                <a:spcPct val="107000"/>
              </a:lnSpc>
              <a:spcAft>
                <a:spcPts val="800"/>
              </a:spcAft>
            </a:pPr>
            <a:r>
              <a:rPr lang="en-IN" b="1" kern="100" dirty="0">
                <a:latin typeface="Times New Roman" panose="02020603050405020304" pitchFamily="18" charset="0"/>
                <a:ea typeface="Calibri" panose="020F0502020204030204" pitchFamily="34" charset="0"/>
                <a:cs typeface="Mangal" panose="02040503050203030202" pitchFamily="18" charset="0"/>
              </a:rPr>
              <a:t>Singh, D., Verma, A., 2023.</a:t>
            </a:r>
            <a:r>
              <a:rPr lang="en-IN" kern="100" dirty="0">
                <a:latin typeface="Times New Roman" panose="02020603050405020304" pitchFamily="18" charset="0"/>
                <a:ea typeface="Calibri" panose="020F0502020204030204" pitchFamily="34" charset="0"/>
                <a:cs typeface="Mangal" panose="02040503050203030202" pitchFamily="18" charset="0"/>
              </a:rPr>
              <a:t> Sentiment analysis of high school students' feedback for predicting career choices. </a:t>
            </a:r>
            <a:r>
              <a:rPr lang="en-IN" i="1" kern="100" dirty="0">
                <a:latin typeface="Times New Roman" panose="02020603050405020304" pitchFamily="18" charset="0"/>
                <a:ea typeface="Calibri" panose="020F0502020204030204" pitchFamily="34" charset="0"/>
                <a:cs typeface="Mangal" panose="02040503050203030202" pitchFamily="18" charset="0"/>
              </a:rPr>
              <a:t>IEEE Access</a:t>
            </a:r>
            <a:r>
              <a:rPr lang="en-IN" kern="100" dirty="0">
                <a:latin typeface="Times New Roman" panose="02020603050405020304" pitchFamily="18" charset="0"/>
                <a:ea typeface="Calibri" panose="020F0502020204030204" pitchFamily="34" charset="0"/>
                <a:cs typeface="Mangal" panose="02040503050203030202" pitchFamily="18" charset="0"/>
              </a:rPr>
              <a:t>, 11, 87654–87670.</a:t>
            </a:r>
            <a:endParaRPr lang="en-IN" kern="100" dirty="0">
              <a:latin typeface="Calibri" panose="020F0502020204030204" pitchFamily="34" charset="0"/>
              <a:ea typeface="Calibri" panose="020F0502020204030204" pitchFamily="34" charset="0"/>
              <a:cs typeface="Mangal" panose="02040503050203030202" pitchFamily="18" charset="0"/>
            </a:endParaRPr>
          </a:p>
          <a:p>
            <a:endParaRPr lang="en-IN" dirty="0"/>
          </a:p>
        </p:txBody>
      </p:sp>
    </p:spTree>
    <p:extLst>
      <p:ext uri="{BB962C8B-B14F-4D97-AF65-F5344CB8AC3E}">
        <p14:creationId xmlns:p14="http://schemas.microsoft.com/office/powerpoint/2010/main" val="2242579767"/>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143</TotalTime>
  <Words>1663</Words>
  <Application>Microsoft Office PowerPoint</Application>
  <PresentationFormat>Widescreen</PresentationFormat>
  <Paragraphs>82</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Century Gothic</vt:lpstr>
      <vt:lpstr>Times New Roman</vt:lpstr>
      <vt:lpstr>Wingdings 3</vt:lpstr>
      <vt:lpstr>Wisp</vt:lpstr>
      <vt:lpstr>PowerPoint Presentation</vt:lpstr>
      <vt:lpstr>Abstract</vt:lpstr>
      <vt:lpstr>PowerPoint Presentation</vt:lpstr>
      <vt:lpstr>Research Objectives</vt:lpstr>
      <vt:lpstr>Project Scope</vt:lpstr>
      <vt:lpstr>PowerPoint Presentation</vt:lpstr>
      <vt:lpstr>PowerPoint Presentation</vt:lpstr>
      <vt:lpstr>Implementation Details</vt:lpstr>
      <vt:lpstr>Implementation Details continued</vt:lpstr>
      <vt:lpstr>Challenges &amp; Mitigation</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Atharv Dobhal</dc:creator>
  <cp:lastModifiedBy>Atharv Dobhal</cp:lastModifiedBy>
  <cp:revision>4</cp:revision>
  <dcterms:created xsi:type="dcterms:W3CDTF">2026-01-06T03:37:38Z</dcterms:created>
  <dcterms:modified xsi:type="dcterms:W3CDTF">2026-03-06T20:55:07Z</dcterms:modified>
</cp:coreProperties>
</file>